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76" r:id="rId2"/>
    <p:sldId id="258" r:id="rId3"/>
    <p:sldId id="260" r:id="rId4"/>
    <p:sldId id="261" r:id="rId5"/>
    <p:sldId id="262" r:id="rId6"/>
    <p:sldId id="264" r:id="rId7"/>
    <p:sldId id="272" r:id="rId8"/>
    <p:sldId id="27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ED5EB1-49DB-41DC-8BEE-BE4496FFD084}" v="208" dt="2026-08-08T16:25:55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855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6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345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10B981"/>
                </a:solidFill>
                <a:latin typeface="Calibri"/>
              </a:rPr>
              <a:t>DOSSIER DE CANDIDATURE — SNEE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6131" y="1053738"/>
            <a:ext cx="7726371" cy="13654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600" b="1">
                <a:solidFill>
                  <a:srgbClr val="064E3B"/>
                </a:solidFill>
              </a:rPr>
              <a:t>CleanMyMap</a:t>
            </a:r>
            <a:endParaRPr lang="en-US" sz="6600"/>
          </a:p>
        </p:txBody>
      </p:sp>
      <p:sp>
        <p:nvSpPr>
          <p:cNvPr id="10" name="Text 8"/>
          <p:cNvSpPr/>
          <p:nvPr/>
        </p:nvSpPr>
        <p:spPr>
          <a:xfrm>
            <a:off x="619204" y="2377440"/>
            <a:ext cx="9083039" cy="5590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2000" i="1" err="1">
                <a:solidFill>
                  <a:srgbClr val="475569"/>
                </a:solidFill>
                <a:latin typeface="Calibri"/>
              </a:rPr>
              <a:t>Cartographier</a:t>
            </a:r>
            <a:r>
              <a:rPr sz="2000" i="1">
                <a:solidFill>
                  <a:srgbClr val="475569"/>
                </a:solidFill>
                <a:latin typeface="Calibri"/>
              </a:rPr>
              <a:t>, </a:t>
            </a:r>
            <a:r>
              <a:rPr lang="fr-FR" sz="2000" i="1" err="1">
                <a:solidFill>
                  <a:srgbClr val="475569"/>
                </a:solidFill>
                <a:latin typeface="Calibri"/>
              </a:rPr>
              <a:t>communiquer</a:t>
            </a:r>
            <a:r>
              <a:rPr lang="fr-FR" sz="2000" i="1">
                <a:solidFill>
                  <a:srgbClr val="475569"/>
                </a:solidFill>
                <a:latin typeface="Calibri"/>
              </a:rPr>
              <a:t> </a:t>
            </a:r>
            <a:r>
              <a:rPr sz="2000" i="1">
                <a:solidFill>
                  <a:srgbClr val="475569"/>
                </a:solidFill>
                <a:latin typeface="Calibri"/>
              </a:rPr>
              <a:t>et </a:t>
            </a:r>
            <a:r>
              <a:rPr sz="2000" i="1" err="1">
                <a:solidFill>
                  <a:srgbClr val="475569"/>
                </a:solidFill>
                <a:latin typeface="Calibri"/>
              </a:rPr>
              <a:t>valoriser</a:t>
            </a:r>
            <a:r>
              <a:rPr sz="2000" i="1">
                <a:solidFill>
                  <a:srgbClr val="475569"/>
                </a:solidFill>
                <a:latin typeface="Calibri"/>
              </a:rPr>
              <a:t> les actions </a:t>
            </a:r>
            <a:r>
              <a:rPr lang="fr-FR" sz="2000" i="1">
                <a:solidFill>
                  <a:srgbClr val="475569"/>
                </a:solidFill>
                <a:latin typeface="Calibri"/>
              </a:rPr>
              <a:t>de</a:t>
            </a:r>
            <a:r>
              <a:rPr sz="2000" i="1">
                <a:solidFill>
                  <a:srgbClr val="475569"/>
                </a:solidFill>
                <a:latin typeface="Calibri"/>
              </a:rPr>
              <a:t> </a:t>
            </a:r>
            <a:r>
              <a:rPr lang="fr-FR" sz="2000" i="1" err="1">
                <a:solidFill>
                  <a:srgbClr val="475569"/>
                </a:solidFill>
                <a:latin typeface="Calibri"/>
              </a:rPr>
              <a:t>dépollutionde</a:t>
            </a:r>
            <a:r>
              <a:rPr lang="fr-FR" sz="2000" i="1">
                <a:solidFill>
                  <a:srgbClr val="475569"/>
                </a:solidFill>
                <a:latin typeface="Calibri"/>
              </a:rPr>
              <a:t> </a:t>
            </a:r>
            <a:r>
              <a:rPr lang="fr-FR" sz="2000" i="1" err="1">
                <a:solidFill>
                  <a:srgbClr val="475569"/>
                </a:solidFill>
                <a:latin typeface="Calibri"/>
              </a:rPr>
              <a:t>l'espace</a:t>
            </a:r>
            <a:r>
              <a:rPr lang="fr-FR" sz="2000" i="1">
                <a:solidFill>
                  <a:srgbClr val="475569"/>
                </a:solidFill>
                <a:latin typeface="Calibri"/>
              </a:rPr>
              <a:t> public</a:t>
            </a:r>
            <a:endParaRPr lang="fr-FR" sz="2000" i="1">
              <a:solidFill>
                <a:srgbClr val="475569"/>
              </a:solidFill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9204" y="3200400"/>
            <a:ext cx="8699324" cy="2008756"/>
          </a:xfrm>
          <a:prstGeom prst="roundRect">
            <a:avLst>
              <a:gd name="adj" fmla="val 4211"/>
            </a:avLst>
          </a:prstGeom>
          <a:solidFill>
            <a:srgbClr val="ECFDF5"/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8523960" cy="15609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000" b="1">
                <a:solidFill>
                  <a:srgbClr val="064E3B"/>
                </a:solidFill>
                <a:latin typeface="Calibri"/>
              </a:rPr>
              <a:t>Maxence </a:t>
            </a:r>
            <a:r>
              <a:rPr sz="2000" b="1" err="1">
                <a:solidFill>
                  <a:srgbClr val="064E3B"/>
                </a:solidFill>
                <a:latin typeface="Calibri"/>
              </a:rPr>
              <a:t>Deroome</a:t>
            </a:r>
            <a:endParaRPr lang="en-US" sz="2000" err="1"/>
          </a:p>
          <a:p>
            <a:endParaRPr lang="en-US" sz="2000"/>
          </a:p>
          <a:p>
            <a:r>
              <a:rPr sz="2000" b="1">
                <a:solidFill>
                  <a:srgbClr val="064E3B"/>
                </a:solidFill>
                <a:latin typeface="Calibri"/>
              </a:rPr>
              <a:t>Sorbonne Université — </a:t>
            </a:r>
            <a:r>
              <a:rPr sz="2000" b="1" err="1">
                <a:solidFill>
                  <a:srgbClr val="064E3B"/>
                </a:solidFill>
                <a:latin typeface="Calibri"/>
              </a:rPr>
              <a:t>Licence</a:t>
            </a:r>
            <a:r>
              <a:rPr lang="fr-FR" sz="2000" b="1">
                <a:solidFill>
                  <a:srgbClr val="064E3B"/>
                </a:solidFill>
                <a:latin typeface="Calibri"/>
              </a:rPr>
              <a:t> </a:t>
            </a:r>
            <a:r>
              <a:rPr lang="fr-FR" sz="2000" b="1" err="1">
                <a:solidFill>
                  <a:srgbClr val="064E3B"/>
                </a:solidFill>
                <a:latin typeface="Calibri"/>
              </a:rPr>
              <a:t>Bidisciplinaire</a:t>
            </a:r>
            <a:r>
              <a:rPr lang="fr-FR" sz="2000" b="1">
                <a:solidFill>
                  <a:srgbClr val="064E3B"/>
                </a:solidFill>
                <a:latin typeface="Calibri"/>
              </a:rPr>
              <a:t> : Physique &amp; Environnement</a:t>
            </a:r>
            <a:endParaRPr sz="2000" b="1">
              <a:solidFill>
                <a:srgbClr val="064E3B"/>
              </a:solidFill>
              <a:latin typeface="Calibri"/>
              <a:ea typeface="Calibri"/>
              <a:cs typeface="Calibri"/>
            </a:endParaRPr>
          </a:p>
          <a:p>
            <a:endParaRPr sz="2000" b="1">
              <a:solidFill>
                <a:srgbClr val="064E3B"/>
              </a:solidFill>
              <a:latin typeface="Calibri"/>
            </a:endParaRPr>
          </a:p>
          <a:p>
            <a:r>
              <a:rPr sz="2000" b="1">
                <a:solidFill>
                  <a:srgbClr val="064E3B"/>
                </a:solidFill>
                <a:latin typeface="Calibri"/>
              </a:rPr>
              <a:t>Candidature </a:t>
            </a:r>
            <a:r>
              <a:rPr lang="fr-FR" sz="2000" b="1">
                <a:solidFill>
                  <a:srgbClr val="064E3B"/>
                </a:solidFill>
                <a:latin typeface="Calibri"/>
              </a:rPr>
              <a:t>SNEE</a:t>
            </a:r>
            <a:r>
              <a:rPr sz="2000" b="1">
                <a:solidFill>
                  <a:srgbClr val="064E3B"/>
                </a:solidFill>
                <a:latin typeface="Calibri"/>
              </a:rPr>
              <a:t> 2026/2027</a:t>
            </a:r>
          </a:p>
        </p:txBody>
      </p:sp>
      <p:sp>
        <p:nvSpPr>
          <p:cNvPr id="13" name="Shape 1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8640" y="60350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>
                <a:solidFill>
                  <a:srgbClr val="FFFFFF"/>
                </a:solidFill>
                <a:latin typeface="Calibri"/>
              </a:rPr>
              <a:t>Candidature SNEE — </a:t>
            </a:r>
            <a:r>
              <a:rPr b="1" err="1">
                <a:solidFill>
                  <a:srgbClr val="FFFFFF"/>
                </a:solidFill>
                <a:latin typeface="Calibri"/>
              </a:rPr>
              <a:t>Pépite</a:t>
            </a:r>
            <a:r>
              <a:rPr b="1">
                <a:solidFill>
                  <a:srgbClr val="FFFFFF"/>
                </a:solidFill>
                <a:latin typeface="Calibri"/>
              </a:rPr>
              <a:t> Sorbonne Université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609" y="194851"/>
            <a:ext cx="1766878" cy="993869"/>
          </a:xfrm>
          <a:prstGeom prst="rect">
            <a:avLst/>
          </a:prstGeom>
          <a:ln>
            <a:noFill/>
          </a:ln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108" y="194851"/>
            <a:ext cx="1628181" cy="99386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112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rgbClr val="064E3B"/>
                </a:solidFill>
                <a:latin typeface="Calibri"/>
              </a:rPr>
              <a:t>Présentation de l'équipe</a:t>
            </a:r>
            <a:endParaRPr 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87874" y="1294983"/>
            <a:ext cx="5408320" cy="4206240"/>
          </a:xfrm>
          <a:prstGeom prst="roundRect">
            <a:avLst>
              <a:gd name="adj" fmla="val 2162"/>
            </a:avLst>
          </a:prstGeom>
          <a:solidFill>
            <a:srgbClr val="ECFD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475569"/>
                </a:solidFill>
                <a:latin typeface="Calibri"/>
              </a:rPr>
              <a:t>2</a:t>
            </a:r>
            <a:endParaRPr lang="en-US" sz="900"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  <a:ln>
            <a:noFill/>
          </a:ln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  <a:ln>
            <a:noFill/>
          </a:ln>
        </p:spPr>
      </p:pic>
      <p:sp>
        <p:nvSpPr>
          <p:cNvPr id="26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/>
          </a:p>
        </p:txBody>
      </p:sp>
      <p:cxnSp>
        <p:nvCxnSpPr>
          <p:cNvPr id="30" name="Connecteur droit 29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6">
            <a:extLst>
              <a:ext uri="{FF2B5EF4-FFF2-40B4-BE49-F238E27FC236}">
                <a16:creationId xmlns:a16="http://schemas.microsoft.com/office/drawing/2014/main" id="{22DFF388-EB0B-B987-5BE0-E35566E06FC0}"/>
              </a:ext>
            </a:extLst>
          </p:cNvPr>
          <p:cNvSpPr/>
          <p:nvPr/>
        </p:nvSpPr>
        <p:spPr>
          <a:xfrm>
            <a:off x="2978840" y="3517259"/>
            <a:ext cx="6307907" cy="45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chemeClr val="accent6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DEROOME Maxence</a:t>
            </a:r>
            <a:endParaRPr lang="fr-FR" sz="2400">
              <a:solidFill>
                <a:schemeClr val="accent6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3CEDE398-9B68-105E-FE56-D9B96A1153A6}"/>
              </a:ext>
            </a:extLst>
          </p:cNvPr>
          <p:cNvSpPr/>
          <p:nvPr/>
        </p:nvSpPr>
        <p:spPr>
          <a:xfrm>
            <a:off x="32042" y="3967820"/>
            <a:ext cx="12215220" cy="39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Responsable</a:t>
            </a:r>
            <a:r>
              <a:rPr lang="en-US" b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 du </a:t>
            </a:r>
            <a:r>
              <a:rPr lang="en-US" b="1" err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projet</a:t>
            </a:r>
            <a:br>
              <a:rPr lang="en-US" b="1">
                <a:ea typeface="+mn-lt"/>
                <a:cs typeface="+mn-lt"/>
              </a:rPr>
            </a:br>
            <a:endParaRPr lang="en-US" b="1">
              <a:solidFill>
                <a:schemeClr val="accent6">
                  <a:lumMod val="76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DBE748E5-03D4-2E39-1987-2426C30EB132}"/>
              </a:ext>
            </a:extLst>
          </p:cNvPr>
          <p:cNvSpPr/>
          <p:nvPr/>
        </p:nvSpPr>
        <p:spPr>
          <a:xfrm>
            <a:off x="3390293" y="4162481"/>
            <a:ext cx="6306453" cy="162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alibri"/>
              <a:buChar char="-"/>
            </a:pPr>
            <a:r>
              <a:rPr lang="en-US" sz="1400" err="1">
                <a:ea typeface="+mn-lt"/>
                <a:cs typeface="+mn-lt"/>
              </a:rPr>
              <a:t>Bénévole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actif</a:t>
            </a:r>
            <a:r>
              <a:rPr lang="en-US" sz="1400">
                <a:ea typeface="+mn-lt"/>
                <a:cs typeface="+mn-lt"/>
              </a:rPr>
              <a:t> sur </a:t>
            </a:r>
            <a:r>
              <a:rPr lang="en-US" sz="1400" err="1">
                <a:ea typeface="+mn-lt"/>
                <a:cs typeface="+mn-lt"/>
              </a:rPr>
              <a:t>des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cleanwalk</a:t>
            </a:r>
            <a:endParaRPr lang="fr-FR" err="1"/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alibri"/>
              <a:buChar char="-"/>
            </a:pPr>
            <a:r>
              <a:rPr lang="en-US" sz="1400" err="1">
                <a:ea typeface="+mn-lt"/>
                <a:cs typeface="+mn-lt"/>
              </a:rPr>
              <a:t>Compétences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en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développement</a:t>
            </a:r>
            <a:r>
              <a:rPr lang="en-US" sz="1400">
                <a:ea typeface="+mn-lt"/>
                <a:cs typeface="+mn-lt"/>
              </a:rPr>
              <a:t> web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alibri"/>
              <a:buChar char="-"/>
            </a:pPr>
            <a:r>
              <a:rPr lang="en-US" sz="1400" err="1">
                <a:ea typeface="+mn-lt"/>
                <a:cs typeface="+mn-lt"/>
              </a:rPr>
              <a:t>Compétences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en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utilisation</a:t>
            </a:r>
            <a:r>
              <a:rPr lang="en-US" sz="1400">
                <a:ea typeface="+mn-lt"/>
                <a:cs typeface="+mn-lt"/>
              </a:rPr>
              <a:t> de </a:t>
            </a:r>
            <a:r>
              <a:rPr lang="en-US" sz="1400" err="1">
                <a:ea typeface="+mn-lt"/>
                <a:cs typeface="+mn-lt"/>
              </a:rPr>
              <a:t>l'IA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agentique</a:t>
            </a:r>
            <a:endParaRPr lang="en-US" sz="1400">
              <a:ea typeface="+mn-lt"/>
              <a:cs typeface="+mn-lt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alibri"/>
              <a:buChar char="-"/>
            </a:pPr>
            <a:endParaRPr lang="en-US" sz="1400">
              <a:ea typeface="+mn-lt"/>
              <a:cs typeface="+mn-lt"/>
            </a:endParaRPr>
          </a:p>
        </p:txBody>
      </p:sp>
      <p:pic>
        <p:nvPicPr>
          <p:cNvPr id="23" name="Image 22" descr="Une image contenant Visage humain, personne, sourire, homme&#10;&#10;Le contenu généré par l’IA peut être incorrect.">
            <a:extLst>
              <a:ext uri="{FF2B5EF4-FFF2-40B4-BE49-F238E27FC236}">
                <a16:creationId xmlns:a16="http://schemas.microsoft.com/office/drawing/2014/main" id="{E876AF28-2B6C-58A2-4568-6FA1F621B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201" y="1559354"/>
            <a:ext cx="1509485" cy="1834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2800" b="1" i="0">
                <a:solidFill>
                  <a:srgbClr val="064E3B"/>
                </a:solidFill>
                <a:latin typeface="Calibri"/>
              </a:rPr>
              <a:t>Pourquoi CleanMyMap ?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400" b="0" i="1">
                <a:solidFill>
                  <a:srgbClr val="475569"/>
                </a:solidFill>
                <a:latin typeface="Calibri"/>
              </a:rPr>
              <a:t>Un projet associatif né du terrain et centré sur la valorisation des bénévoles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ECFD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500" b="1" i="0">
                <a:solidFill>
                  <a:srgbClr val="10B981"/>
                </a:solidFill>
                <a:latin typeface="Calibri"/>
              </a:rPr>
              <a:t>Origine du projet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6309360" cy="3749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250" b="0" i="0">
                <a:solidFill>
                  <a:srgbClr val="475569"/>
                </a:solidFill>
                <a:latin typeface="Calibri"/>
              </a:rPr>
              <a:t>CleanMyMap part d’un constat simple : les actions de dépollution existent, mais elles restent souvent peu visibles une fois terminées.</a:t>
            </a:r>
          </a:p>
          <a:p/>
          <a:p>
            <a:r>
              <a:rPr sz="1250" b="0" i="0">
                <a:solidFill>
                  <a:srgbClr val="475569"/>
                </a:solidFill>
                <a:latin typeface="Calibri"/>
              </a:rPr>
              <a:t>Les bénévoles donnent du temps, repèrent des besoins et produisent un impact concret. Pourtant, cet engagement est rarement cartographié, suivi ou valorisé.</a:t>
            </a:r>
          </a:p>
          <a:p/>
          <a:p>
            <a:r>
              <a:rPr sz="1250" b="0" i="0">
                <a:solidFill>
                  <a:srgbClr val="475569"/>
                </a:solidFill>
                <a:latin typeface="Calibri"/>
              </a:rPr>
              <a:t>L’objectif associatif : aider les acteurs locaux à mieux organiser, documenter et reconnaître les actions de terrain.</a:t>
            </a:r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D1FAE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498080" y="1691640"/>
            <a:ext cx="41148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1">
                <a:solidFill>
                  <a:srgbClr val="064E3B"/>
                </a:solidFill>
                <a:latin typeface="Calibri"/>
              </a:rPr>
              <a:t>À montrer</a:t>
            </a:r>
          </a:p>
          <a:p>
            <a:pPr algn="ctr"/>
            <a:r>
              <a:rPr sz="1400" b="1" i="1">
                <a:solidFill>
                  <a:srgbClr val="064E3B"/>
                </a:solidFill>
                <a:latin typeface="Calibri"/>
              </a:rPr>
              <a:t>Photo cleanwalk / carte / indicateur bénévole</a:t>
            </a:r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475569"/>
                </a:solidFill>
                <a:latin typeface="Calibri"/>
              </a:rPr>
              <a:t>3</a:t>
            </a:r>
            <a:endParaRPr lang="en-US" sz="90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  <a:ln>
            <a:noFill/>
          </a:ln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  <a:ln>
            <a:noFill/>
          </a:ln>
        </p:spPr>
      </p:pic>
      <p:sp>
        <p:nvSpPr>
          <p:cNvPr id="19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/>
          </a:p>
        </p:txBody>
      </p:sp>
      <p:cxnSp>
        <p:nvCxnSpPr>
          <p:cNvPr id="20" name="Connecteur droit 19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2800" b="1" i="0">
                <a:solidFill>
                  <a:srgbClr val="064E3B"/>
                </a:solidFill>
                <a:latin typeface="Calibri"/>
              </a:rPr>
              <a:t>Quel problème est résolu ?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400" b="0" i="1">
                <a:solidFill>
                  <a:srgbClr val="475569"/>
                </a:solidFill>
                <a:latin typeface="Calibri"/>
              </a:rPr>
              <a:t>Rendre les actions locales plus visibles, coordonnées et exploitables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ECFD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500" b="1" i="0">
                <a:solidFill>
                  <a:srgbClr val="10B981"/>
                </a:solidFill>
                <a:latin typeface="Calibri"/>
              </a:rPr>
              <a:t>Problème identifié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6309360" cy="3749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250" b="0" i="0">
                <a:solidFill>
                  <a:srgbClr val="475569"/>
                </a:solidFill>
                <a:latin typeface="Calibri"/>
              </a:rPr>
              <a:t>Trois limites reviennent dans les actions de dépollution :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• informations dispersées entre formulaires, groupes et cartes ;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• difficulté à savoir où agir en priorité ;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• faible continuité après l’action : peu de trace, peu de preuve, peu de valorisation.</a:t>
            </a:r>
          </a:p>
          <a:p/>
          <a:p>
            <a:r>
              <a:rPr sz="1250" b="0" i="0">
                <a:solidFill>
                  <a:srgbClr val="475569"/>
                </a:solidFill>
                <a:latin typeface="Calibri"/>
              </a:rPr>
              <a:t>CleanMyMap ne remplace pas les associations. La plateforme leur apporte un support commun pour coordonner, suivre et présenter l’impact des bénévoles.</a:t>
            </a:r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D1FAE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498080" y="1691640"/>
            <a:ext cx="41148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1">
                <a:solidFill>
                  <a:srgbClr val="064E3B"/>
                </a:solidFill>
                <a:latin typeface="Calibri"/>
              </a:rPr>
              <a:t>Bénéficiaires</a:t>
            </a:r>
          </a:p>
          <a:p>
            <a:pPr algn="ctr"/>
            <a:r>
              <a:rPr sz="1400" b="1" i="1">
                <a:solidFill>
                  <a:srgbClr val="064E3B"/>
                </a:solidFill>
                <a:latin typeface="Calibri"/>
              </a:rPr>
              <a:t>Bénévoles · associations · collectivités</a:t>
            </a:r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475569"/>
                </a:solidFill>
                <a:latin typeface="Calibri"/>
              </a:rPr>
              <a:t>4</a:t>
            </a:r>
            <a:endParaRPr lang="en-US" sz="90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  <a:ln>
            <a:noFill/>
          </a:ln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  <a:ln>
            <a:noFill/>
          </a:ln>
        </p:spPr>
      </p:pic>
      <p:sp>
        <p:nvSpPr>
          <p:cNvPr id="19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/>
          </a:p>
        </p:txBody>
      </p:sp>
      <p:cxnSp>
        <p:nvCxnSpPr>
          <p:cNvPr id="20" name="Connecteur droit 19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2800" b="1" i="0">
                <a:solidFill>
                  <a:srgbClr val="064E3B"/>
                </a:solidFill>
                <a:latin typeface="Calibri"/>
              </a:rPr>
              <a:t>Démonstration du prototype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400" b="0" i="1">
                <a:solidFill>
                  <a:srgbClr val="475569"/>
                </a:solidFill>
                <a:latin typeface="Calibri"/>
              </a:rPr>
              <a:t>Une boucle simple : signaler → agir → cartographier → valoriser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ECFD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500" b="1" i="0">
                <a:solidFill>
                  <a:srgbClr val="10B981"/>
                </a:solidFill>
                <a:latin typeface="Calibri"/>
              </a:rPr>
              <a:t>Fonctionnement pratique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6309360" cy="3749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250" b="0" i="0">
                <a:solidFill>
                  <a:srgbClr val="475569"/>
                </a:solidFill>
                <a:latin typeface="Calibri"/>
              </a:rPr>
              <a:t>Parcours bénévole :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1. Je consulte la carte ou une rubrique d’action.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2. Je signale un besoin ou je déclare une action.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3. Les données sont structurées, modérées puis visibles sur la carte.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4. L’impact peut être consulté, partagé et exporté.</a:t>
            </a:r>
          </a:p>
          <a:p/>
          <a:p>
            <a:r>
              <a:rPr sz="1250" b="0" i="0">
                <a:solidFill>
                  <a:srgbClr val="475569"/>
                </a:solidFill>
                <a:latin typeface="Calibri"/>
              </a:rPr>
              <a:t>État actuel : prototype web avancé avec carte, formulaires, profils, rapports et documentation structurée.</a:t>
            </a:r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D1FAE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498080" y="1691640"/>
            <a:ext cx="41148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1">
                <a:solidFill>
                  <a:srgbClr val="064E3B"/>
                </a:solidFill>
                <a:latin typeface="Calibri"/>
              </a:rPr>
              <a:t>Capture prototype</a:t>
            </a:r>
          </a:p>
          <a:p>
            <a:pPr algn="ctr"/>
            <a:r>
              <a:rPr sz="1400" b="1" i="1">
                <a:solidFill>
                  <a:srgbClr val="064E3B"/>
                </a:solidFill>
                <a:latin typeface="Calibri"/>
              </a:rPr>
              <a:t>Carte / formulaire / rapport d’impact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D2E — Dossier de candidature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475569"/>
                </a:solidFill>
                <a:latin typeface="Calibri"/>
              </a:rPr>
              <a:t>5</a:t>
            </a:r>
            <a:endParaRPr lang="en-US" sz="90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  <a:ln>
            <a:noFill/>
          </a:ln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  <a:ln>
            <a:noFill/>
          </a:ln>
        </p:spPr>
      </p:pic>
      <p:cxnSp>
        <p:nvCxnSpPr>
          <p:cNvPr id="19" name="Connecteur droit 18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2800" b="1" i="0">
                <a:solidFill>
                  <a:srgbClr val="064E3B"/>
                </a:solidFill>
                <a:latin typeface="Calibri"/>
              </a:rPr>
              <a:t>Ce que j’ai déjà réalisé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400" b="0" i="1">
                <a:solidFill>
                  <a:srgbClr val="475569"/>
                </a:solidFill>
                <a:latin typeface="Calibri"/>
              </a:rPr>
              <a:t>Des démarches concrètes pour prouver que le projet dépasse le stade de l’idée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ECFD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500" b="1" i="0">
                <a:solidFill>
                  <a:srgbClr val="10B981"/>
                </a:solidFill>
                <a:latin typeface="Calibri"/>
              </a:rPr>
              <a:t>Preuves d’avancement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6309360" cy="3749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250" b="0" i="0">
                <a:solidFill>
                  <a:srgbClr val="475569"/>
                </a:solidFill>
                <a:latin typeface="Calibri"/>
              </a:rPr>
              <a:t>Travail déjà engagé :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• prototype web fonctionnel ;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• carte, formulaires, profils, rapports ;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• documentation et architecture structurées ;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• réflexion sur données, modération et indicateurs ;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• premiers contacts avec des acteurs de la dépollution et de la sensibilisation.</a:t>
            </a:r>
          </a:p>
          <a:p/>
          <a:p>
            <a:r>
              <a:rPr sz="1250" b="0" i="0">
                <a:solidFill>
                  <a:srgbClr val="475569"/>
                </a:solidFill>
                <a:latin typeface="Calibri"/>
              </a:rPr>
              <a:t>Prochaine étape : tester sur le terrain et prioriser les usages les plus utiles.</a:t>
            </a:r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D1FAE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498080" y="1691640"/>
            <a:ext cx="41148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1">
                <a:solidFill>
                  <a:srgbClr val="064E3B"/>
                </a:solidFill>
                <a:latin typeface="Calibri"/>
              </a:rPr>
              <a:t>Preuves à montrer</a:t>
            </a:r>
          </a:p>
          <a:p>
            <a:pPr algn="ctr"/>
            <a:r>
              <a:rPr sz="1400" b="1" i="1">
                <a:solidFill>
                  <a:srgbClr val="064E3B"/>
                </a:solidFill>
                <a:latin typeface="Calibri"/>
              </a:rPr>
              <a:t>Prototype · documentation · échanges terrain</a:t>
            </a:r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475569"/>
                </a:solidFill>
                <a:latin typeface="Calibri"/>
              </a:rPr>
              <a:t>6</a:t>
            </a:r>
            <a:endParaRPr lang="en-US" sz="90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  <a:ln>
            <a:noFill/>
          </a:ln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  <a:ln>
            <a:noFill/>
          </a:ln>
        </p:spPr>
      </p:pic>
      <p:sp>
        <p:nvSpPr>
          <p:cNvPr id="19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/>
          </a:p>
        </p:txBody>
      </p:sp>
      <p:cxnSp>
        <p:nvCxnSpPr>
          <p:cNvPr id="20" name="Connecteur droit 19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2800" b="1" i="0">
                <a:solidFill>
                  <a:srgbClr val="064E3B"/>
                </a:solidFill>
                <a:latin typeface="Calibri"/>
              </a:rPr>
              <a:t>Ce qu’il reste à construire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400" b="0" i="1">
                <a:solidFill>
                  <a:srgbClr val="475569"/>
                </a:solidFill>
                <a:latin typeface="Calibri"/>
              </a:rPr>
              <a:t>Passer d’un prototype fonctionnel à un projet associatif testable sur le terrain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CFD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777240" y="265176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700" b="1" i="0">
                <a:solidFill>
                  <a:srgbClr val="064E3B"/>
                </a:solidFill>
                <a:latin typeface="Calibri"/>
              </a:rPr>
              <a:t>Valider le terrain</a:t>
            </a:r>
          </a:p>
        </p:txBody>
      </p:sp>
      <p:sp>
        <p:nvSpPr>
          <p:cNvPr id="16" name="Text 14"/>
          <p:cNvSpPr/>
          <p:nvPr/>
        </p:nvSpPr>
        <p:spPr>
          <a:xfrm>
            <a:off x="777240" y="3291840"/>
            <a:ext cx="315468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150" b="0" i="1">
                <a:solidFill>
                  <a:srgbClr val="475569"/>
                </a:solidFill>
                <a:latin typeface="Calibri"/>
              </a:rPr>
              <a:t>• Tests bénévoles et associations</a:t>
            </a:r>
          </a:p>
          <a:p>
            <a:r>
              <a:rPr sz="1150" b="0" i="1">
                <a:solidFill>
                  <a:srgbClr val="475569"/>
                </a:solidFill>
                <a:latin typeface="Calibri"/>
              </a:rPr>
              <a:t>• Observation des usages réels</a:t>
            </a:r>
          </a:p>
          <a:p>
            <a:r>
              <a:rPr sz="1150" b="0" i="1">
                <a:solidFill>
                  <a:srgbClr val="475569"/>
                </a:solidFill>
                <a:latin typeface="Calibri"/>
              </a:rPr>
              <a:t>• Parcours prioritaires</a:t>
            </a:r>
          </a:p>
          <a:p>
            <a:r>
              <a:rPr sz="1150" b="0" i="1">
                <a:solidFill>
                  <a:srgbClr val="475569"/>
                </a:solidFill>
                <a:latin typeface="Calibri"/>
              </a:rPr>
              <a:t>• Valeur réellement créée</a:t>
            </a:r>
          </a:p>
        </p:txBody>
      </p:sp>
      <p:sp>
        <p:nvSpPr>
          <p:cNvPr id="17" name="Shape 15"/>
          <p:cNvSpPr/>
          <p:nvPr/>
        </p:nvSpPr>
        <p:spPr>
          <a:xfrm>
            <a:off x="448056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CFD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09160" y="19202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709160" y="1920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4709160" y="265176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700" b="1" i="0">
                <a:solidFill>
                  <a:srgbClr val="064E3B"/>
                </a:solidFill>
                <a:latin typeface="Calibri"/>
              </a:rPr>
              <a:t>Structurer l’association</a:t>
            </a:r>
          </a:p>
        </p:txBody>
      </p:sp>
      <p:sp>
        <p:nvSpPr>
          <p:cNvPr id="21" name="Text 19"/>
          <p:cNvSpPr/>
          <p:nvPr/>
        </p:nvSpPr>
        <p:spPr>
          <a:xfrm>
            <a:off x="4709160" y="3291840"/>
            <a:ext cx="315468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150" b="0" i="1">
                <a:solidFill>
                  <a:srgbClr val="475569"/>
                </a:solidFill>
                <a:latin typeface="Calibri"/>
              </a:rPr>
              <a:t>• Gouvernance et rôles</a:t>
            </a:r>
          </a:p>
          <a:p>
            <a:r>
              <a:rPr sz="1150" b="0" i="1">
                <a:solidFill>
                  <a:srgbClr val="475569"/>
                </a:solidFill>
                <a:latin typeface="Calibri"/>
              </a:rPr>
              <a:t>• Données et modération</a:t>
            </a:r>
          </a:p>
          <a:p>
            <a:r>
              <a:rPr sz="1150" b="0" i="1">
                <a:solidFill>
                  <a:srgbClr val="475569"/>
                </a:solidFill>
                <a:latin typeface="Calibri"/>
              </a:rPr>
              <a:t>• Place des bénévoles</a:t>
            </a:r>
          </a:p>
          <a:p>
            <a:r>
              <a:rPr sz="1150" b="0" i="1">
                <a:solidFill>
                  <a:srgbClr val="475569"/>
                </a:solidFill>
                <a:latin typeface="Calibri"/>
              </a:rPr>
              <a:t>• Modèle soutenable</a:t>
            </a:r>
          </a:p>
        </p:txBody>
      </p:sp>
      <p:sp>
        <p:nvSpPr>
          <p:cNvPr id="22" name="Shape 20"/>
          <p:cNvSpPr/>
          <p:nvPr/>
        </p:nvSpPr>
        <p:spPr>
          <a:xfrm>
            <a:off x="841248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CFD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641080" y="1920240"/>
            <a:ext cx="548640" cy="54864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641080" y="1920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8641080" y="265176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700" b="1" i="0">
                <a:solidFill>
                  <a:srgbClr val="064E3B"/>
                </a:solidFill>
                <a:latin typeface="Calibri"/>
              </a:rPr>
              <a:t>Déployer utilement</a:t>
            </a:r>
          </a:p>
        </p:txBody>
      </p:sp>
      <p:sp>
        <p:nvSpPr>
          <p:cNvPr id="26" name="Text 24"/>
          <p:cNvSpPr/>
          <p:nvPr/>
        </p:nvSpPr>
        <p:spPr>
          <a:xfrm>
            <a:off x="8641080" y="3291840"/>
            <a:ext cx="315468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150" b="0" i="1">
                <a:solidFill>
                  <a:srgbClr val="475569"/>
                </a:solidFill>
                <a:latin typeface="Calibri"/>
              </a:rPr>
              <a:t>• Pilote local</a:t>
            </a:r>
          </a:p>
          <a:p>
            <a:r>
              <a:rPr sz="1150" b="0" i="1">
                <a:solidFill>
                  <a:srgbClr val="475569"/>
                </a:solidFill>
                <a:latin typeface="Calibri"/>
              </a:rPr>
              <a:t>• Partenariats consolidés</a:t>
            </a:r>
          </a:p>
          <a:p>
            <a:r>
              <a:rPr sz="1150" b="0" i="1">
                <a:solidFill>
                  <a:srgbClr val="475569"/>
                </a:solidFill>
                <a:latin typeface="Calibri"/>
              </a:rPr>
              <a:t>• Rapports simples</a:t>
            </a:r>
          </a:p>
          <a:p>
            <a:r>
              <a:rPr sz="1150" b="0" i="1">
                <a:solidFill>
                  <a:srgbClr val="475569"/>
                </a:solidFill>
                <a:latin typeface="Calibri"/>
              </a:rPr>
              <a:t>• Contributions valorisées</a:t>
            </a:r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475569"/>
                </a:solidFill>
                <a:latin typeface="Calibri"/>
              </a:rPr>
              <a:t>7</a:t>
            </a:r>
            <a:endParaRPr lang="en-US" sz="900"/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  <a:ln>
            <a:noFill/>
          </a:ln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  <a:ln>
            <a:noFill/>
          </a:ln>
        </p:spPr>
      </p:pic>
      <p:sp>
        <p:nvSpPr>
          <p:cNvPr id="31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/>
          </a:p>
        </p:txBody>
      </p:sp>
      <p:cxnSp>
        <p:nvCxnSpPr>
          <p:cNvPr id="32" name="Connecteur droit 31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2800" b="1" i="0">
                <a:solidFill>
                  <a:srgbClr val="064E3B"/>
                </a:solidFill>
                <a:latin typeface="Calibri"/>
              </a:rPr>
              <a:t>Pourquoi Pépite ?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400" b="0" i="1">
                <a:solidFill>
                  <a:srgbClr val="475569"/>
                </a:solidFill>
                <a:latin typeface="Calibri"/>
              </a:rPr>
              <a:t>Être accompagné pour transformer un prototype associatif en projet fiable et durable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ECFD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3447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500" b="1" i="0">
                <a:solidFill>
                  <a:srgbClr val="10B981"/>
                </a:solidFill>
                <a:latin typeface="Calibri"/>
              </a:rPr>
              <a:t>Apports attendus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10634472" cy="3749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250" b="0" i="0">
                <a:solidFill>
                  <a:srgbClr val="475569"/>
                </a:solidFill>
                <a:latin typeface="Calibri"/>
              </a:rPr>
              <a:t>Le SNEE peut m’aider à avancer avec une posture apprenante :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• cadrer une expérimentation terrain sérieuse ;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• structurer les retours bénévoles et associations ;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• clarifier le cadre associatif, juridique et partenarial ;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• bénéficier d’un réseau de mentors et d’acteurs publics ;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• apprendre à porter le projet avec méthode.</a:t>
            </a:r>
          </a:p>
          <a:p/>
          <a:p>
            <a:r>
              <a:rPr sz="1250" b="0" i="0">
                <a:solidFill>
                  <a:srgbClr val="475569"/>
                </a:solidFill>
                <a:latin typeface="Calibri"/>
              </a:rPr>
              <a:t>Conclusion : CleanMyMap est déjà prototypé. Pépite doit m’aider à le tester, le cadrer et le rendre utile durablement.</a:t>
            </a:r>
          </a:p>
        </p:txBody>
      </p:sp>
      <p:sp>
        <p:nvSpPr>
          <p:cNvPr id="12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475569"/>
                </a:solidFill>
                <a:latin typeface="Calibri"/>
              </a:rPr>
              <a:t>8</a:t>
            </a:r>
            <a:endParaRPr lang="en-US" sz="90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  <a:ln>
            <a:noFill/>
          </a:ln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  <a:ln>
            <a:noFill/>
          </a:ln>
        </p:spPr>
      </p:pic>
      <p:sp>
        <p:nvSpPr>
          <p:cNvPr id="15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/>
          </a:p>
        </p:txBody>
      </p:sp>
      <p:cxnSp>
        <p:nvCxnSpPr>
          <p:cNvPr id="16" name="Connecteur droit 15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537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8</Slides>
  <Notes>8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2026-06-12T08:39:16Z</dcterms:created>
  <dcterms:modified xsi:type="dcterms:W3CDTF">2026-08-08T16:27:59Z</dcterms:modified>
</cp:coreProperties>
</file>