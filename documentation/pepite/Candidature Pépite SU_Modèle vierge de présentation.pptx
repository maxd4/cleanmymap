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6" r:id="rId3"/>
    <p:sldId id="258" r:id="rId4"/>
    <p:sldId id="260" r:id="rId5"/>
    <p:sldId id="261" r:id="rId6"/>
    <p:sldId id="262" r:id="rId7"/>
    <p:sldId id="263" r:id="rId8"/>
    <p:sldId id="264" r:id="rId9"/>
    <p:sldId id="266" r:id="rId10"/>
    <p:sldId id="268" r:id="rId11"/>
    <p:sldId id="271" r:id="rId12"/>
    <p:sldId id="259" r:id="rId13"/>
    <p:sldId id="272" r:id="rId14"/>
    <p:sldId id="275" r:id="rId15"/>
    <p:sldId id="274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00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27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9855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267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4345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DE CANDIDATURE — SNEE/D2E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1B2A5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6035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Candidature SNEE/D2E — Pépite Sorbonne Université</a:t>
            </a:r>
            <a:endParaRPr lang="en-US" sz="1600" dirty="0"/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4609" y="194851"/>
            <a:ext cx="1766878" cy="993869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3108" y="194851"/>
            <a:ext cx="1628181" cy="993869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04EBD36B-34A5-4B1B-9AC8-B380BD85C585}"/>
              </a:ext>
            </a:extLst>
          </p:cNvPr>
          <p:cNvSpPr txBox="1"/>
          <p:nvPr/>
        </p:nvSpPr>
        <p:spPr>
          <a:xfrm>
            <a:off x="640080" y="1216403"/>
            <a:ext cx="10844448" cy="4755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b="1" u="sng" dirty="0"/>
              <a:t>Quelques précision avant de compléter ce dossier :</a:t>
            </a:r>
          </a:p>
          <a:p>
            <a:pPr algn="just"/>
            <a:endParaRPr lang="fr-FR" sz="1500" dirty="0"/>
          </a:p>
          <a:p>
            <a:pPr algn="just"/>
            <a:r>
              <a:rPr lang="fr-FR" sz="1500" b="1" dirty="0"/>
              <a:t>🎨 Personnalisation de la présentation</a:t>
            </a:r>
          </a:p>
          <a:p>
            <a:pPr algn="just"/>
            <a:r>
              <a:rPr lang="fr-FR" sz="1500" dirty="0"/>
              <a:t>Vous êtes libres d'adapter la charte graphique de ce support afin qu'elle corresponde à l'identité visuelle de votre projet (logo, couleurs, typographie, etc.), si vous en disposez déjà.</a:t>
            </a:r>
          </a:p>
          <a:p>
            <a:pPr algn="just"/>
            <a:endParaRPr lang="fr-FR" sz="1500" dirty="0"/>
          </a:p>
          <a:p>
            <a:pPr algn="just"/>
            <a:r>
              <a:rPr lang="fr-FR" sz="1500" b="1" dirty="0"/>
              <a:t>📊 Des données estimatives sont acceptées</a:t>
            </a:r>
          </a:p>
          <a:p>
            <a:pPr algn="just"/>
            <a:r>
              <a:rPr lang="fr-FR" sz="1500" dirty="0"/>
              <a:t>Selon le niveau de maturité de votre projet, certaines informations (exemple : marché, prix, stratégie commerciales, prix et distinctions, etc.) peuvent encore être en cours de construction. Il est tout à fait possible de renseigner des estimations ou des hypothèses à ce stade.</a:t>
            </a:r>
          </a:p>
          <a:p>
            <a:pPr algn="just"/>
            <a:endParaRPr lang="fr-FR" sz="1500" dirty="0"/>
          </a:p>
          <a:p>
            <a:pPr algn="just"/>
            <a:r>
              <a:rPr lang="fr-FR" sz="1500" b="1" dirty="0"/>
              <a:t>L'objectif : comprendre où en est votre projet</a:t>
            </a:r>
          </a:p>
          <a:p>
            <a:pPr algn="just"/>
            <a:r>
              <a:rPr lang="fr-FR" sz="1500" dirty="0"/>
              <a:t>Ce document vise avant tout à permettre au jury délivrant le SNEE/D2E de :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fr-FR" sz="1500" dirty="0"/>
              <a:t>comprendre votre démarche de réflexion et d'exploration ;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fr-FR" sz="1500" dirty="0"/>
              <a:t>identifier les travaux déjà réalisés ;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fr-FR" sz="1500" dirty="0"/>
              <a:t>évaluer le niveau d'avancement de votre projet ;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fr-FR" sz="1500" dirty="0"/>
              <a:t>repérer les sujets qui pourront être approfondis dans le cadre de l'accompagnement proposé par le SNEE/D2E. </a:t>
            </a:r>
          </a:p>
          <a:p>
            <a:pPr algn="just"/>
            <a:endParaRPr lang="fr-FR" sz="1500" dirty="0"/>
          </a:p>
          <a:p>
            <a:pPr algn="just"/>
            <a:r>
              <a:rPr lang="fr-FR" sz="1500" dirty="0"/>
              <a:t>L'accompagnement de Pépite Sorbonne Université a justement vocation à vous aider à consolider, préciser et valider ces différents éléments au fil du programme.</a:t>
            </a:r>
          </a:p>
          <a:p>
            <a:endParaRPr lang="fr-F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DE CANDIDATURE — SNEE/D2E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09728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B2A56"/>
                </a:solidFill>
                <a:ea typeface="Cambria" pitchFamily="34" charset="-122"/>
                <a:cs typeface="Cambria" pitchFamily="34" charset="-120"/>
              </a:rPr>
              <a:t>Nom du projet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hrase d'accroche du projet en une ligne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3200400"/>
            <a:ext cx="5943600" cy="1737360"/>
          </a:xfrm>
          <a:prstGeom prst="roundRect">
            <a:avLst>
              <a:gd name="adj" fmla="val 4211"/>
            </a:avLst>
          </a:prstGeom>
          <a:solidFill>
            <a:srgbClr val="F2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429000"/>
            <a:ext cx="5486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Prénom
</a:t>
            </a:r>
            <a:endParaRPr lang="en-US" sz="1800" dirty="0"/>
          </a:p>
          <a:p>
            <a:pPr marL="0" indent="0">
              <a:buNone/>
            </a:pPr>
            <a:r>
              <a:rPr lang="en-US" sz="14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</a:t>
            </a: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en-US" sz="14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Diplôme</a:t>
            </a: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</a:t>
            </a: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</a:t>
            </a:r>
            <a:r>
              <a:rPr lang="en-US" sz="14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l’année</a:t>
            </a: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universitaire</a:t>
            </a: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2026/2027
</a:t>
            </a:r>
            <a:endParaRPr lang="en-US" sz="1800" dirty="0"/>
          </a:p>
          <a:p>
            <a:pPr marL="0" indent="0">
              <a:buNone/>
            </a:pPr>
            <a:r>
              <a:rPr lang="en-US" sz="1400" b="1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endParaRPr lang="en-US" sz="1400" b="1" i="1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</a:t>
            </a:r>
            <a:r>
              <a:rPr lang="en-US" sz="14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actuelle</a:t>
            </a: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</a:t>
            </a:r>
            <a:r>
              <a:rPr lang="en-US" sz="14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poste, </a:t>
            </a:r>
            <a:r>
              <a:rPr lang="en-US" sz="14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recherche </a:t>
            </a:r>
            <a:r>
              <a:rPr lang="en-US" sz="14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d’emploi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1B2A5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60350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Candidature SNEE/D2E — Pépite Sorbonne Université</a:t>
            </a:r>
            <a:endParaRPr lang="en-US" sz="1600" dirty="0"/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4609" y="194851"/>
            <a:ext cx="1766878" cy="993869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3108" y="194851"/>
            <a:ext cx="1628181" cy="993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129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56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Présentation de l'équipe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F2F4F8"/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1965960"/>
            <a:ext cx="1371600" cy="1371600"/>
          </a:xfrm>
          <a:prstGeom prst="ellipse">
            <a:avLst/>
          </a:prstGeom>
          <a:solidFill>
            <a:srgbClr val="E7EAF2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19659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Prénom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886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42976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et compétences clés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06240" y="169164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F2F4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212080" y="1965960"/>
            <a:ext cx="1371600" cy="1371600"/>
          </a:xfrm>
          <a:prstGeom prst="ellipse">
            <a:avLst/>
          </a:prstGeom>
          <a:solidFill>
            <a:srgbClr val="E7EAF2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0" y="19659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34840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Prénom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34840" y="3886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26280" y="42976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et compétences clés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38160" y="169164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F2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1874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= la bonne équipe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66760" y="237744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êtes-vous les bonnes personnes pour porter ce projet 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Mettez en valeur la complémentarité de vos compétences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Précisez le périmètre de responsabilité de chacun(e)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24" name="Imag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874" y="365760"/>
            <a:ext cx="1766878" cy="993869"/>
          </a:xfrm>
          <a:prstGeom prst="rect">
            <a:avLst/>
          </a:prstGeom>
        </p:spPr>
      </p:pic>
      <p:pic>
        <p:nvPicPr>
          <p:cNvPr id="25" name="Image 2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091" y="365760"/>
            <a:ext cx="1628181" cy="993869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Pépite Sorbonne Université  ·  SNEE/D2E — Dossier de candidature</a:t>
            </a:r>
            <a:endParaRPr lang="en-US" sz="900" dirty="0"/>
          </a:p>
        </p:txBody>
      </p:sp>
      <p:cxnSp>
        <p:nvCxnSpPr>
          <p:cNvPr id="30" name="Connecteur droit 29"/>
          <p:cNvCxnSpPr/>
          <p:nvPr/>
        </p:nvCxnSpPr>
        <p:spPr>
          <a:xfrm>
            <a:off x="548640" y="1097280"/>
            <a:ext cx="7040880" cy="0"/>
          </a:xfrm>
          <a:prstGeom prst="line">
            <a:avLst/>
          </a:prstGeom>
          <a:ln w="19050">
            <a:solidFill>
              <a:srgbClr val="E200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56"/>
                </a:solidFill>
                <a:ea typeface="Cambria" pitchFamily="34" charset="-122"/>
                <a:cs typeface="Cambria" pitchFamily="34" charset="-120"/>
              </a:rPr>
              <a:t>D'où vient l'idée du projet 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 — la problématique identifiée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6766560" cy="4572000"/>
          </a:xfrm>
          <a:prstGeom prst="roundRect">
            <a:avLst>
              <a:gd name="adj" fmla="val 1600"/>
            </a:avLst>
          </a:prstGeom>
          <a:solidFill>
            <a:srgbClr val="F2F4F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7452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histoire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63093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Définissez la problématique (besoin insatisfait) que vous tentez de résoudre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Présentez 2 à 3 sous-problèmes concrets vécus par vos utilisateurs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Appuyez-vous sur des données simples (étude terrain, sondage, observation) pour montrer l'ampleur du problème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Indiquez le nombre de personnes potentiellement concernées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98080" y="1691640"/>
            <a:ext cx="4114800" cy="4572000"/>
          </a:xfrm>
          <a:prstGeom prst="roundRect">
            <a:avLst>
              <a:gd name="adj" fmla="val 1778"/>
            </a:avLst>
          </a:prstGeom>
          <a:solidFill>
            <a:srgbClr val="E7EAF2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0" y="1691640"/>
            <a:ext cx="4114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Élément visuel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i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(photo, schéma, chiffre clé)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17" name="Imag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874" y="365760"/>
            <a:ext cx="1766878" cy="993869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091" y="365760"/>
            <a:ext cx="1628181" cy="993869"/>
          </a:xfrm>
          <a:prstGeom prst="rect">
            <a:avLst/>
          </a:prstGeom>
        </p:spPr>
      </p:pic>
      <p:sp>
        <p:nvSpPr>
          <p:cNvPr id="19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Pépite Sorbonne Université  ·  SNEE/D2E — Dossier de candidature</a:t>
            </a:r>
            <a:endParaRPr lang="en-US" sz="900" dirty="0"/>
          </a:p>
        </p:txBody>
      </p:sp>
      <p:cxnSp>
        <p:nvCxnSpPr>
          <p:cNvPr id="20" name="Connecteur droit 19"/>
          <p:cNvCxnSpPr/>
          <p:nvPr/>
        </p:nvCxnSpPr>
        <p:spPr>
          <a:xfrm>
            <a:off x="548640" y="1097280"/>
            <a:ext cx="7040880" cy="0"/>
          </a:xfrm>
          <a:prstGeom prst="line">
            <a:avLst/>
          </a:prstGeom>
          <a:ln w="19050">
            <a:solidFill>
              <a:srgbClr val="E200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56"/>
                </a:solidFill>
                <a:ea typeface="Cambria" pitchFamily="34" charset="-122"/>
                <a:cs typeface="Cambria" pitchFamily="34" charset="-120"/>
              </a:rPr>
              <a:t>Présentation de l'offre et du concept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résolvez-vous le problème que vous venez de présenter 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6766560" cy="4572000"/>
          </a:xfrm>
          <a:prstGeom prst="roundRect">
            <a:avLst>
              <a:gd name="adj" fmla="val 1600"/>
            </a:avLst>
          </a:prstGeom>
          <a:solidFill>
            <a:srgbClr val="F2F4F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7452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solution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63093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Présentez votre proposition de valeur en 2 ou 3 points clairs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Expliquez en quoi votre solution répond directement aux sous-problèmes identifiés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Restez simple : une idée forte, facile à retenir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98080" y="1691640"/>
            <a:ext cx="4114800" cy="4572000"/>
          </a:xfrm>
          <a:prstGeom prst="roundRect">
            <a:avLst>
              <a:gd name="adj" fmla="val 1778"/>
            </a:avLst>
          </a:prstGeom>
          <a:solidFill>
            <a:srgbClr val="E7EAF2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0" y="1691640"/>
            <a:ext cx="4114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i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solution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17" name="Imag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874" y="365760"/>
            <a:ext cx="1766878" cy="993869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091" y="365760"/>
            <a:ext cx="1628181" cy="993869"/>
          </a:xfrm>
          <a:prstGeom prst="rect">
            <a:avLst/>
          </a:prstGeom>
        </p:spPr>
      </p:pic>
      <p:sp>
        <p:nvSpPr>
          <p:cNvPr id="19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Pépite Sorbonne Université  ·  SNEE/D2E — Dossier de candidature</a:t>
            </a:r>
            <a:endParaRPr lang="en-US" sz="900" dirty="0"/>
          </a:p>
        </p:txBody>
      </p:sp>
      <p:cxnSp>
        <p:nvCxnSpPr>
          <p:cNvPr id="20" name="Connecteur droit 19"/>
          <p:cNvCxnSpPr/>
          <p:nvPr/>
        </p:nvCxnSpPr>
        <p:spPr>
          <a:xfrm>
            <a:off x="548640" y="1097280"/>
            <a:ext cx="7040880" cy="0"/>
          </a:xfrm>
          <a:prstGeom prst="line">
            <a:avLst/>
          </a:prstGeom>
          <a:ln w="19050">
            <a:solidFill>
              <a:srgbClr val="E200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56"/>
                </a:solidFill>
                <a:ea typeface="Cambria" pitchFamily="34" charset="-122"/>
                <a:cs typeface="Cambria" pitchFamily="34" charset="-120"/>
              </a:rPr>
              <a:t>Comment ça marche 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fonctionnement pratique de la solution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6766560" cy="4572000"/>
          </a:xfrm>
          <a:prstGeom prst="roundRect">
            <a:avLst>
              <a:gd name="adj" fmla="val 1600"/>
            </a:avLst>
          </a:prstGeom>
          <a:solidFill>
            <a:srgbClr val="F2F4F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7452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&amp; avancement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63093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Décrivez le parcours utilisateur étape par étape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Utilisez des supports visuels si possible : captures d'écran, schéma, photo du prototype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Précisez l'état d'avancement actuel : idée, premiers tests, prototype, premiers clients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98080" y="1691640"/>
            <a:ext cx="4114800" cy="4572000"/>
          </a:xfrm>
          <a:prstGeom prst="roundRect">
            <a:avLst>
              <a:gd name="adj" fmla="val 1778"/>
            </a:avLst>
          </a:prstGeom>
          <a:solidFill>
            <a:srgbClr val="E7EAF2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0" y="1691640"/>
            <a:ext cx="4114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i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(visuel / capture / prototype)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Pépite Sorbonne Université  ·  D2E — Dossier de candidature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17" name="Imag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874" y="365760"/>
            <a:ext cx="1766878" cy="993869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091" y="365760"/>
            <a:ext cx="1628181" cy="993869"/>
          </a:xfrm>
          <a:prstGeom prst="rect">
            <a:avLst/>
          </a:prstGeom>
        </p:spPr>
      </p:pic>
      <p:cxnSp>
        <p:nvCxnSpPr>
          <p:cNvPr id="19" name="Connecteur droit 18"/>
          <p:cNvCxnSpPr/>
          <p:nvPr/>
        </p:nvCxnSpPr>
        <p:spPr>
          <a:xfrm>
            <a:off x="548640" y="1097280"/>
            <a:ext cx="7040880" cy="0"/>
          </a:xfrm>
          <a:prstGeom prst="line">
            <a:avLst/>
          </a:prstGeom>
          <a:ln w="19050">
            <a:solidFill>
              <a:srgbClr val="E200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56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Marché et potentiel de croissance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vision simple et chiffrée de votre marché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6766560" cy="4572000"/>
          </a:xfrm>
          <a:prstGeom prst="roundRect">
            <a:avLst>
              <a:gd name="adj" fmla="val 1600"/>
            </a:avLst>
          </a:prstGeom>
          <a:solidFill>
            <a:srgbClr val="F2F4F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7452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L'essentiel à montrer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63093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Donnez quelques chiffres clés sur la taille du marché et son évolution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Décrivez votre clientèle cible (qui sont-ils ? quels besoins ?)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vous avez réalisé une enquête, partagez les résultats marquants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besoin d'une étude exhaustive : privilégiez les chiffres les plus parlants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98080" y="1691640"/>
            <a:ext cx="4114800" cy="4572000"/>
          </a:xfrm>
          <a:prstGeom prst="roundRect">
            <a:avLst>
              <a:gd name="adj" fmla="val 1778"/>
            </a:avLst>
          </a:prstGeom>
          <a:solidFill>
            <a:srgbClr val="E7EAF2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0" y="1691640"/>
            <a:ext cx="4114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ou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i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 clé du marché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17" name="Imag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874" y="365760"/>
            <a:ext cx="1766878" cy="993869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091" y="365760"/>
            <a:ext cx="1628181" cy="993869"/>
          </a:xfrm>
          <a:prstGeom prst="rect">
            <a:avLst/>
          </a:prstGeom>
        </p:spPr>
      </p:pic>
      <p:sp>
        <p:nvSpPr>
          <p:cNvPr id="19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Pépite Sorbonne Université  ·  SNEE/D2E — Dossier de candidature</a:t>
            </a:r>
            <a:endParaRPr lang="en-US" sz="900" dirty="0"/>
          </a:p>
        </p:txBody>
      </p:sp>
      <p:cxnSp>
        <p:nvCxnSpPr>
          <p:cNvPr id="20" name="Connecteur droit 19"/>
          <p:cNvCxnSpPr/>
          <p:nvPr/>
        </p:nvCxnSpPr>
        <p:spPr>
          <a:xfrm>
            <a:off x="548640" y="1097280"/>
            <a:ext cx="7040880" cy="0"/>
          </a:xfrm>
          <a:prstGeom prst="line">
            <a:avLst/>
          </a:prstGeom>
          <a:ln w="19050">
            <a:solidFill>
              <a:srgbClr val="E200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56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Concurrence et avantages concurrentiels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qui vous comparez-vous, et pourquoi êtes-vous différents 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6766560" cy="4572000"/>
          </a:xfrm>
          <a:prstGeom prst="roundRect">
            <a:avLst>
              <a:gd name="adj" fmla="val 1600"/>
            </a:avLst>
          </a:prstGeom>
          <a:solidFill>
            <a:srgbClr val="F2F4F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7452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rapide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63093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Identifiez 2 à 3 concurrents directs ou indirects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Présentez brièvement leurs forces et limites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Mettez en avant 2 à 3 avantages concurrentiels clairs de votre solution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98080" y="1691640"/>
            <a:ext cx="4114800" cy="4572000"/>
          </a:xfrm>
          <a:prstGeom prst="roundRect">
            <a:avLst>
              <a:gd name="adj" fmla="val 1778"/>
            </a:avLst>
          </a:prstGeom>
          <a:solidFill>
            <a:srgbClr val="E7EAF2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0" y="1691640"/>
            <a:ext cx="4114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comparatif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i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17" name="Imag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874" y="365760"/>
            <a:ext cx="1766878" cy="993869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091" y="365760"/>
            <a:ext cx="1628181" cy="993869"/>
          </a:xfrm>
          <a:prstGeom prst="rect">
            <a:avLst/>
          </a:prstGeom>
        </p:spPr>
      </p:pic>
      <p:sp>
        <p:nvSpPr>
          <p:cNvPr id="19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Pépite Sorbonne Université  ·  SNEE/D2E — Dossier de candidature</a:t>
            </a:r>
            <a:endParaRPr lang="en-US" sz="900" dirty="0"/>
          </a:p>
        </p:txBody>
      </p:sp>
      <p:cxnSp>
        <p:nvCxnSpPr>
          <p:cNvPr id="20" name="Connecteur droit 19"/>
          <p:cNvCxnSpPr/>
          <p:nvPr/>
        </p:nvCxnSpPr>
        <p:spPr>
          <a:xfrm>
            <a:off x="548640" y="1097280"/>
            <a:ext cx="7040880" cy="0"/>
          </a:xfrm>
          <a:prstGeom prst="line">
            <a:avLst/>
          </a:prstGeom>
          <a:ln w="19050">
            <a:solidFill>
              <a:srgbClr val="E200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56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Modèle économique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générez-vous des revenus avec votre solution 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2F4F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745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logique de revenus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Décrivez en quelques lignes comment vous créez, délivrez et captez de la valeur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Précisez votre ou vos sources de revenus principales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Restez synthétique : l'essentiel doit tenir en quelques phrases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2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8745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de modèles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2377440"/>
            <a:ext cx="49377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 de produits ou services (achat-revente, production propre)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 (payant ou freemium)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durable / économie circulaire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874" y="365760"/>
            <a:ext cx="1766878" cy="993869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091" y="365760"/>
            <a:ext cx="1628181" cy="993869"/>
          </a:xfrm>
          <a:prstGeom prst="rect">
            <a:avLst/>
          </a:prstGeom>
        </p:spPr>
      </p:pic>
      <p:sp>
        <p:nvSpPr>
          <p:cNvPr id="20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Pépite Sorbonne Université  ·  SNEE/D2E — Dossier de candidature</a:t>
            </a:r>
            <a:endParaRPr lang="en-US" sz="900" dirty="0"/>
          </a:p>
        </p:txBody>
      </p:sp>
      <p:cxnSp>
        <p:nvCxnSpPr>
          <p:cNvPr id="21" name="Connecteur droit 20"/>
          <p:cNvCxnSpPr/>
          <p:nvPr/>
        </p:nvCxnSpPr>
        <p:spPr>
          <a:xfrm>
            <a:off x="548640" y="1097280"/>
            <a:ext cx="7040880" cy="0"/>
          </a:xfrm>
          <a:prstGeom prst="line">
            <a:avLst/>
          </a:prstGeom>
          <a:ln w="19050">
            <a:solidFill>
              <a:srgbClr val="E200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56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Stratégie commerciale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Communication, prix et distribution — l'essentiel pour atteindre vos clients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691640"/>
            <a:ext cx="3657600" cy="4572000"/>
          </a:xfrm>
          <a:prstGeom prst="roundRect">
            <a:avLst>
              <a:gd name="adj" fmla="val 2000"/>
            </a:avLst>
          </a:prstGeom>
          <a:solidFill>
            <a:srgbClr val="F2F4F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74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2377440"/>
            <a:ext cx="3200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canaux pour toucher vos clients ? (réseaux sociaux, événements, bouche-à-oreille…)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Partenariats envisagés pour gagner en visibilité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80560" y="1691640"/>
            <a:ext cx="3657600" cy="4572000"/>
          </a:xfrm>
          <a:prstGeom prst="roundRect">
            <a:avLst>
              <a:gd name="adj" fmla="val 2000"/>
            </a:avLst>
          </a:prstGeom>
          <a:solidFill>
            <a:srgbClr val="F2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874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09160" y="2377440"/>
            <a:ext cx="3200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Présentez votre grille tarifaire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Justifiez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cohérence avec votre positionnement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412480" y="1691640"/>
            <a:ext cx="3776472" cy="4572000"/>
          </a:xfrm>
          <a:prstGeom prst="roundRect">
            <a:avLst>
              <a:gd name="adj" fmla="val 1937"/>
            </a:avLst>
          </a:prstGeom>
          <a:solidFill>
            <a:srgbClr val="F2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8641080" y="1874520"/>
            <a:ext cx="3319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41080" y="2377440"/>
            <a:ext cx="331927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 produit/service arrive-t-il jusqu'au client 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 directe, en ligne, via des partenaires…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23" name="Image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874" y="365760"/>
            <a:ext cx="1766878" cy="993869"/>
          </a:xfrm>
          <a:prstGeom prst="rect">
            <a:avLst/>
          </a:prstGeom>
        </p:spPr>
      </p:pic>
      <p:pic>
        <p:nvPicPr>
          <p:cNvPr id="24" name="Image 2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091" y="365760"/>
            <a:ext cx="1628181" cy="993869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Pépite Sorbonne Université  ·  SNEE/D2E — Dossier de candidature</a:t>
            </a:r>
            <a:endParaRPr lang="en-US" sz="900" dirty="0"/>
          </a:p>
        </p:txBody>
      </p:sp>
      <p:cxnSp>
        <p:nvCxnSpPr>
          <p:cNvPr id="26" name="Connecteur droit 25"/>
          <p:cNvCxnSpPr/>
          <p:nvPr/>
        </p:nvCxnSpPr>
        <p:spPr>
          <a:xfrm>
            <a:off x="548640" y="1097280"/>
            <a:ext cx="7040880" cy="0"/>
          </a:xfrm>
          <a:prstGeom prst="line">
            <a:avLst/>
          </a:prstGeom>
          <a:ln w="19050">
            <a:solidFill>
              <a:srgbClr val="E200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B2A56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Prix &amp; distinctions </a:t>
            </a:r>
            <a:r>
              <a:rPr lang="en-US" sz="2400" b="1" i="1" dirty="0">
                <a:solidFill>
                  <a:srgbClr val="1B2A56"/>
                </a:solidFill>
                <a:latin typeface="+mj-lt"/>
                <a:ea typeface="Cambria" pitchFamily="34" charset="-122"/>
                <a:cs typeface="Calibri" panose="020F0502020204030204" pitchFamily="34" charset="0"/>
              </a:rPr>
              <a:t>(le </a:t>
            </a:r>
            <a:r>
              <a:rPr lang="en-US" sz="2400" b="1" i="1" dirty="0" err="1">
                <a:solidFill>
                  <a:srgbClr val="1B2A56"/>
                </a:solidFill>
                <a:latin typeface="+mj-lt"/>
                <a:ea typeface="Cambria" pitchFamily="34" charset="-122"/>
                <a:cs typeface="Calibri" panose="020F0502020204030204" pitchFamily="34" charset="0"/>
              </a:rPr>
              <a:t>cas</a:t>
            </a:r>
            <a:r>
              <a:rPr lang="en-US" sz="2400" b="1" i="1" dirty="0">
                <a:solidFill>
                  <a:srgbClr val="1B2A56"/>
                </a:solidFill>
                <a:latin typeface="+mj-lt"/>
                <a:ea typeface="Cambria" pitchFamily="34" charset="-122"/>
                <a:cs typeface="Calibri" panose="020F0502020204030204" pitchFamily="34" charset="0"/>
              </a:rPr>
              <a:t> </a:t>
            </a:r>
            <a:r>
              <a:rPr lang="en-US" sz="2400" b="1" i="1" dirty="0" err="1">
                <a:solidFill>
                  <a:srgbClr val="1B2A56"/>
                </a:solidFill>
                <a:latin typeface="+mj-lt"/>
                <a:ea typeface="Cambria" pitchFamily="34" charset="-122"/>
                <a:cs typeface="Calibri" panose="020F0502020204030204" pitchFamily="34" charset="0"/>
              </a:rPr>
              <a:t>échéant</a:t>
            </a:r>
            <a:r>
              <a:rPr lang="en-US" sz="2400" b="1" i="1" dirty="0">
                <a:solidFill>
                  <a:srgbClr val="1B2A56"/>
                </a:solidFill>
                <a:latin typeface="+mj-lt"/>
                <a:ea typeface="Cambria" pitchFamily="34" charset="-122"/>
                <a:cs typeface="Calibri" panose="020F0502020204030204" pitchFamily="34" charset="0"/>
              </a:rPr>
              <a:t>)</a:t>
            </a:r>
            <a:endParaRPr lang="en-US" sz="2400" i="1" dirty="0">
              <a:latin typeface="+mj-lt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Concours, appels à projets, distinctions obtenus ou en cours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600"/>
            </a:avLst>
          </a:prstGeom>
          <a:solidFill>
            <a:srgbClr val="F2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874520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distinction, indiquez :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2377440"/>
            <a:ext cx="1063447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nom du prix ou concours, et l'organisateur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L'année d'obtention (ou de candidature)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cela vous a apporté : financement, visibilité, mentorat, mise en réseau…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vous n'avez encore rien obtenu, vous pouvez lister les concours auxquels vous prévoyez de candidater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19" name="Imag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874" y="365760"/>
            <a:ext cx="1766878" cy="993869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091" y="365760"/>
            <a:ext cx="1628181" cy="993869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Pépite Sorbonne Université  ·  SNEE/D2E — Dossier de candidature</a:t>
            </a:r>
            <a:endParaRPr lang="en-US" sz="900" dirty="0"/>
          </a:p>
        </p:txBody>
      </p:sp>
      <p:cxnSp>
        <p:nvCxnSpPr>
          <p:cNvPr id="22" name="Connecteur droit 21"/>
          <p:cNvCxnSpPr/>
          <p:nvPr/>
        </p:nvCxnSpPr>
        <p:spPr>
          <a:xfrm>
            <a:off x="548640" y="1097280"/>
            <a:ext cx="7040880" cy="0"/>
          </a:xfrm>
          <a:prstGeom prst="line">
            <a:avLst/>
          </a:prstGeom>
          <a:ln w="19050">
            <a:solidFill>
              <a:srgbClr val="E200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56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Partenaires opérationnels et </a:t>
            </a:r>
            <a:r>
              <a:rPr lang="en-US" sz="2800" b="1" dirty="0" err="1">
                <a:solidFill>
                  <a:srgbClr val="1B2A56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soutiens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acteurs mobilisés autour de votre projet (institutions, enseignants, fondations, incubateurs…)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600"/>
            </a:avLst>
          </a:prstGeom>
          <a:solidFill>
            <a:srgbClr val="F2F4F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74520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mentionner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1063447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Listez les structures et personnes qui soutiennent votre projet : incubateurs, mentors, enseignants, associations, partenaires techniques ou commerciaux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Précisez la nature concrète du soutien apporté (hébergement, expertise, financement, mise en réseau, accès clients…)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Mettez en avant tout label, prix ou reconnaissance déjà obtenu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874" y="365760"/>
            <a:ext cx="1766878" cy="993869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091" y="365760"/>
            <a:ext cx="1628181" cy="993869"/>
          </a:xfrm>
          <a:prstGeom prst="rect">
            <a:avLst/>
          </a:prstGeom>
        </p:spPr>
      </p:pic>
      <p:sp>
        <p:nvSpPr>
          <p:cNvPr id="15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Pépite Sorbonne Université  ·  SNEE/D2E — Dossier de candidature</a:t>
            </a:r>
            <a:endParaRPr lang="en-US" sz="900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548640" y="1097280"/>
            <a:ext cx="7040880" cy="0"/>
          </a:xfrm>
          <a:prstGeom prst="line">
            <a:avLst/>
          </a:prstGeom>
          <a:ln w="19050">
            <a:solidFill>
              <a:srgbClr val="E200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56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Roadmap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avez réalisé, et les prochaines étapes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16916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2F4F8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1B2A5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77240" y="26517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déjà </a:t>
            </a:r>
            <a:r>
              <a:rPr lang="en-US" sz="1700" b="1" dirty="0" err="1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réalisées</a:t>
            </a:r>
            <a:r>
              <a:rPr lang="en-US" sz="17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77240" y="329184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</a:t>
            </a: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</a:t>
            </a:r>
            <a:r>
              <a:rPr lang="en-US" sz="13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Études</a:t>
            </a: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réalisées</a:t>
            </a: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premiers contacts </a:t>
            </a:r>
            <a:r>
              <a:rPr lang="en-US" sz="13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tests, constitution de l'équipe…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80560" y="16916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2F4F8"/>
          </a:solidFill>
          <a:ln/>
        </p:spPr>
      </p:sp>
      <p:sp>
        <p:nvSpPr>
          <p:cNvPr id="18" name="Shape 16"/>
          <p:cNvSpPr/>
          <p:nvPr/>
        </p:nvSpPr>
        <p:spPr>
          <a:xfrm>
            <a:off x="4709160" y="1920240"/>
            <a:ext cx="548640" cy="548640"/>
          </a:xfrm>
          <a:prstGeom prst="ellipse">
            <a:avLst/>
          </a:prstGeom>
          <a:solidFill>
            <a:srgbClr val="E2001A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09160" y="26517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 err="1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Chantiers</a:t>
            </a:r>
            <a:r>
              <a:rPr lang="en-US" sz="17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b="1" dirty="0" err="1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prioritaires</a:t>
            </a:r>
            <a:r>
              <a:rPr lang="en-US" sz="17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700" b="1" dirty="0" err="1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l'année</a:t>
            </a:r>
            <a:r>
              <a:rPr lang="en-US" sz="17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709160" y="329184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</a:t>
            </a: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</a:t>
            </a:r>
            <a:r>
              <a:rPr lang="en-US" sz="13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</a:t>
            </a: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marché, construire le prototype, structurer le modèle économique…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412480" y="169164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F2F4F8"/>
          </a:solidFill>
          <a:ln/>
        </p:spPr>
      </p:sp>
      <p:sp>
        <p:nvSpPr>
          <p:cNvPr id="23" name="Shape 21"/>
          <p:cNvSpPr/>
          <p:nvPr/>
        </p:nvSpPr>
        <p:spPr>
          <a:xfrm>
            <a:off x="8641080" y="1920240"/>
            <a:ext cx="548640" cy="548640"/>
          </a:xfrm>
          <a:prstGeom prst="ellipse">
            <a:avLst/>
          </a:prstGeom>
          <a:solidFill>
            <a:srgbClr val="1B2A56"/>
          </a:solidFill>
          <a:ln/>
        </p:spPr>
      </p:sp>
      <p:sp>
        <p:nvSpPr>
          <p:cNvPr id="24" name="Text 22"/>
          <p:cNvSpPr/>
          <p:nvPr/>
        </p:nvSpPr>
        <p:spPr>
          <a:xfrm>
            <a:off x="86410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641080" y="26517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641080" y="329184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</a:t>
            </a: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lancement, premiers clients, levée de fonds, </a:t>
            </a:r>
            <a:r>
              <a:rPr lang="en-US" sz="13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recrutement</a:t>
            </a: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integration </a:t>
            </a:r>
            <a:r>
              <a:rPr lang="en-US" sz="13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incubateur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29" name="Image 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874" y="365760"/>
            <a:ext cx="1766878" cy="993869"/>
          </a:xfrm>
          <a:prstGeom prst="rect">
            <a:avLst/>
          </a:prstGeom>
        </p:spPr>
      </p:pic>
      <p:pic>
        <p:nvPicPr>
          <p:cNvPr id="30" name="Image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091" y="365760"/>
            <a:ext cx="1628181" cy="993869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Pépite Sorbonne Université  ·  SNEE/D2E — Dossier de candidature</a:t>
            </a:r>
            <a:endParaRPr lang="en-US" sz="900" dirty="0"/>
          </a:p>
        </p:txBody>
      </p:sp>
      <p:cxnSp>
        <p:nvCxnSpPr>
          <p:cNvPr id="32" name="Connecteur droit 31"/>
          <p:cNvCxnSpPr/>
          <p:nvPr/>
        </p:nvCxnSpPr>
        <p:spPr>
          <a:xfrm>
            <a:off x="548640" y="1097280"/>
            <a:ext cx="7040880" cy="0"/>
          </a:xfrm>
          <a:prstGeom prst="line">
            <a:avLst/>
          </a:prstGeom>
          <a:ln w="19050">
            <a:solidFill>
              <a:srgbClr val="E200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2800" b="1" dirty="0">
                <a:solidFill>
                  <a:srgbClr val="1B2A56"/>
                </a:solidFill>
                <a:latin typeface="Calibri" panose="020F0502020204030204" pitchFamily="34" charset="0"/>
                <a:ea typeface="Cambria" pitchFamily="34" charset="-122"/>
                <a:cs typeface="Calibri" panose="020F0502020204030204" pitchFamily="34" charset="0"/>
              </a:rPr>
              <a:t>Apports de Pépite Sorbonne Université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quoi Pépite Sorbonne Université peut vous aider dans votre projet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11091672" cy="4572000"/>
          </a:xfrm>
          <a:prstGeom prst="roundRect">
            <a:avLst>
              <a:gd name="adj" fmla="val 1600"/>
            </a:avLst>
          </a:prstGeom>
          <a:solidFill>
            <a:srgbClr val="F2F4F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74520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mentionner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1063447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fr-FR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Qu’avez-vous retenu de Pépite Sorbonne Université et de ses actions (SNEE/D2E)</a:t>
            </a:r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fr-FR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Explicitez comment cet accompagnement ou cette formation (D2E) pourra vous aider à avancer</a:t>
            </a:r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fr-FR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Indiquez des besoins précis de votre projet  (étude de marché, gestion de projet, prototypage, financement…)</a:t>
            </a:r>
          </a:p>
          <a:p>
            <a:pPr>
              <a:spcAft>
                <a:spcPts val="600"/>
              </a:spcAft>
              <a:buSzPct val="100000"/>
            </a:pP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874" y="365760"/>
            <a:ext cx="1766878" cy="993869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3091" y="365760"/>
            <a:ext cx="1628181" cy="993869"/>
          </a:xfrm>
          <a:prstGeom prst="rect">
            <a:avLst/>
          </a:prstGeom>
        </p:spPr>
      </p:pic>
      <p:sp>
        <p:nvSpPr>
          <p:cNvPr id="15" name="Text 18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Pépite Sorbonne Université  ·  SNEE/D2E — Dossier de candidature</a:t>
            </a:r>
            <a:endParaRPr lang="en-US" sz="900" dirty="0"/>
          </a:p>
        </p:txBody>
      </p:sp>
      <p:cxnSp>
        <p:nvCxnSpPr>
          <p:cNvPr id="16" name="Connecteur droit 15"/>
          <p:cNvCxnSpPr/>
          <p:nvPr/>
        </p:nvCxnSpPr>
        <p:spPr>
          <a:xfrm>
            <a:off x="548640" y="1097280"/>
            <a:ext cx="7040880" cy="0"/>
          </a:xfrm>
          <a:prstGeom prst="line">
            <a:avLst/>
          </a:prstGeom>
          <a:ln w="19050">
            <a:solidFill>
              <a:srgbClr val="E200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55374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10515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800"/>
              </a:spcAft>
              <a:buSzPct val="100000"/>
              <a:buChar char="▸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Rappelez en une phrase votre vision et l'ambition de votre projet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▸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Synthétisez ce que le 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SNEE/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D2E vous apportera pour passer à l'étape suivante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▸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Terminez sur une note motivante : pourquoi ce projet, pourquoi maintenant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61120" y="2984500"/>
            <a:ext cx="2743200" cy="1536700"/>
          </a:xfrm>
          <a:prstGeom prst="roundRect">
            <a:avLst>
              <a:gd name="adj" fmla="val 2667"/>
            </a:avLst>
          </a:prstGeom>
          <a:solidFill>
            <a:srgbClr val="E2001A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0" y="1417320"/>
            <a:ext cx="27432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!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1220</Words>
  <Application>Microsoft Office PowerPoint</Application>
  <PresentationFormat>Grand écran</PresentationFormat>
  <Paragraphs>177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RUFFELAERE Emilie</cp:lastModifiedBy>
  <cp:revision>12</cp:revision>
  <dcterms:created xsi:type="dcterms:W3CDTF">2026-06-12T08:39:16Z</dcterms:created>
  <dcterms:modified xsi:type="dcterms:W3CDTF">2026-06-12T10:59:01Z</dcterms:modified>
</cp:coreProperties>
</file>