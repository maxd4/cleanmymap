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76" r:id="rId3"/>
    <p:sldId id="258" r:id="rId4"/>
    <p:sldId id="260" r:id="rId5"/>
    <p:sldId id="261" r:id="rId6"/>
    <p:sldId id="262" r:id="rId7"/>
    <p:sldId id="264" r:id="rId9"/>
    <p:sldId id="272" r:id="rId14"/>
    <p:sldId id="27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855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6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34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0B981"/>
                </a:solidFill>
                <a:latin typeface="Calibri"/>
              </a:rPr>
              <a:t>DOSSIER DE CANDIDATURE — SNEE/D2E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097280"/>
            <a:ext cx="6400800" cy="12801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6000" b="1">
                <a:solidFill>
                  <a:srgbClr val="064E3B"/>
                </a:solidFill>
              </a:rPr>
              <a:t>CleanMyMap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603504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i="1">
                <a:solidFill>
                  <a:srgbClr val="475569"/>
                </a:solidFill>
                <a:latin typeface="Calibri"/>
              </a:rPr>
              <a:t>Cartographier, déclarer et valoriser les actions locales de dépollution.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943600" cy="173736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429000"/>
            <a:ext cx="5486400" cy="1508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064E3B"/>
                </a:solidFill>
                <a:latin typeface="Calibri"/>
              </a:rPr>
              <a:t>Maxence Deroome</a:t>
            </a:r>
            <a:endParaRPr lang="en-US" sz="1800" dirty="0"/>
          </a:p>
          <a:p>
            <a:r>
              <a:rPr sz="1800" b="1">
                <a:solidFill>
                  <a:srgbClr val="064E3B"/>
                </a:solidFill>
                <a:latin typeface="Calibri"/>
              </a:rPr>
              <a:t/>
            </a:r>
          </a:p>
          <a:p>
            <a:r>
              <a:rPr sz="1800" b="1">
                <a:solidFill>
                  <a:srgbClr val="064E3B"/>
                </a:solidFill>
                <a:latin typeface="Calibri"/>
              </a:rPr>
              <a:t>Sorbonne Université — Licence Physique, mineure Environnement</a:t>
            </a:r>
          </a:p>
          <a:p>
            <a:r>
              <a:rPr sz="1800" b="1">
                <a:solidFill>
                  <a:srgbClr val="064E3B"/>
                </a:solidFill>
                <a:latin typeface="Calibri"/>
              </a:rPr>
              <a:t/>
            </a:r>
          </a:p>
          <a:p>
            <a:r>
              <a:rPr sz="1800" b="1">
                <a:solidFill>
                  <a:srgbClr val="064E3B"/>
                </a:solidFill>
                <a:latin typeface="Calibri"/>
              </a:rPr>
              <a:t>Candidature SNEE/D2E 2026/2027</a:t>
            </a:r>
          </a:p>
        </p:txBody>
      </p:sp>
      <p:sp>
        <p:nvSpPr>
          <p:cNvPr id="13" name="Shape 1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64E3B"/>
          </a:solidFill>
          <a:ln>
            <a:solidFill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6035040"/>
            <a:ext cx="731520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Candidature SNEE/D2E — Pépite Sorbonne Université</a:t>
            </a:r>
            <a:endParaRPr lang="en-US" sz="1600" dirty="0"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609" y="194851"/>
            <a:ext cx="1766878" cy="993869"/>
          </a:xfrm>
          <a:prstGeom prst="rect">
            <a:avLst/>
          </a:prstGeom>
          <a:ln>
            <a:solidFill/>
          </a:ln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108" y="194851"/>
            <a:ext cx="1628181" cy="993869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372112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200" b="1">
                <a:solidFill>
                  <a:srgbClr val="064E3B"/>
                </a:solidFill>
                <a:latin typeface="Calibri"/>
              </a:rPr>
              <a:t>Présentation de l'équipe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54480" y="1965960"/>
            <a:ext cx="1371600" cy="1371600"/>
          </a:xfrm>
          <a:prstGeom prst="ellipse">
            <a:avLst/>
          </a:prstGeom>
          <a:solidFill>
            <a:srgbClr val="D1FAE5"/>
          </a:solidFill>
          <a:ln>
            <a:solidFill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54480" y="1965960"/>
            <a:ext cx="1371600" cy="1371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064E3B"/>
                </a:solidFill>
                <a:latin typeface="Calibri"/>
              </a:rPr>
              <a:t>PHOTO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9260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solidFill>
                  <a:srgbClr val="064E3B"/>
                </a:solidFill>
                <a:latin typeface="Calibri"/>
              </a:rPr>
              <a:t>Maxence Deroome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92608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i="1">
                <a:solidFill>
                  <a:srgbClr val="10B981"/>
                </a:solidFill>
                <a:latin typeface="Calibri"/>
              </a:rPr>
              <a:t>Porteur du projet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2743200" cy="1463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>
                <a:solidFill>
                  <a:srgbClr val="475569"/>
                </a:solidFill>
                <a:latin typeface="Calibri"/>
              </a:rPr>
              <a:t>Étudiant à Sorbonne Université</a:t>
            </a:r>
            <a:endParaRPr lang="en-US" sz="1200" dirty="0"/>
          </a:p>
          <a:p>
            <a:r>
              <a:rPr sz="1200">
                <a:solidFill>
                  <a:srgbClr val="475569"/>
                </a:solidFill>
                <a:latin typeface="Calibri"/>
              </a:rPr>
              <a:t>Développement web, cartographie, données terrain</a:t>
            </a:r>
          </a:p>
          <a:p>
            <a:r>
              <a:rPr sz="1200">
                <a:solidFill>
                  <a:srgbClr val="475569"/>
                </a:solidFill>
                <a:latin typeface="Calibri"/>
              </a:rPr>
              <a:t>Projet bénévole civic-tech</a:t>
            </a:r>
          </a:p>
        </p:txBody>
      </p:sp>
      <p:sp>
        <p:nvSpPr>
          <p:cNvPr id="11" name="Shape 9"/>
          <p:cNvSpPr/>
          <p:nvPr/>
        </p:nvSpPr>
        <p:spPr>
          <a:xfrm>
            <a:off x="4206240" y="169164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212080" y="1965960"/>
            <a:ext cx="1371600" cy="1371600"/>
          </a:xfrm>
          <a:prstGeom prst="ellipse">
            <a:avLst/>
          </a:prstGeom>
          <a:solidFill>
            <a:srgbClr val="D1FAE5"/>
          </a:solidFill>
          <a:ln>
            <a:solidFill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1965960"/>
            <a:ext cx="1371600" cy="1371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064E3B"/>
                </a:solidFill>
                <a:latin typeface="Calibri"/>
              </a:rPr>
              <a:t>RÉSEAU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3520440"/>
            <a:ext cx="292608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600" b="1">
                <a:solidFill>
                  <a:srgbClr val="064E3B"/>
                </a:solidFill>
                <a:latin typeface="Calibri"/>
              </a:rPr>
              <a:t>Écosystème à consolider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3886200"/>
            <a:ext cx="292608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300" i="1">
                <a:solidFill>
                  <a:srgbClr val="10B981"/>
                </a:solidFill>
                <a:latin typeface="Calibri"/>
              </a:rPr>
              <a:t>Associations · collectivités · acteurs terrain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4297680"/>
            <a:ext cx="2743200" cy="1463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>
                <a:solidFill>
                  <a:srgbClr val="475569"/>
                </a:solidFill>
                <a:latin typeface="Calibri"/>
              </a:rPr>
              <a:t>Contacts et pistes autour des cleanwalks, de la donnée terrain et de la sensibilisation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66760" y="1874520"/>
            <a:ext cx="301752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0B981"/>
                </a:solidFill>
                <a:latin typeface="Calibri"/>
              </a:rPr>
              <a:t>Pourquoi la bonne équipe 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377440"/>
            <a:ext cx="3017520" cy="3383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sz="1300">
                <a:solidFill>
                  <a:srgbClr val="475569"/>
                </a:solidFill>
                <a:latin typeface="Calibri"/>
              </a:rPr>
              <a:t>Le projet vient d’un besoin terrain identifié pendant le DU Engagement.</a:t>
            </a:r>
            <a:endParaRPr lang="en-US" sz="1300" dirty="0"/>
          </a:p>
          <a:p>
            <a:r>
              <a:rPr sz="1300">
                <a:solidFill>
                  <a:srgbClr val="475569"/>
                </a:solidFill>
                <a:latin typeface="Calibri"/>
              </a:rPr>
              <a:t>Le prototype existe déjà : carte, formulaires, rapports et parcours utilisateurs.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L’enjeu de l’année : tester, cadrer et ouvrir le projet à des partenaires.</a:t>
            </a:r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2</a:t>
            </a:r>
            <a:endParaRPr lang="en-US" sz="900" dirty="0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solidFill/>
          </a:ln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solidFill/>
          </a:ln>
        </p:spPr>
      </p:pic>
      <p:sp>
        <p:nvSpPr>
          <p:cNvPr id="26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solidFill>
                  <a:srgbClr val="064E3B"/>
                </a:solidFill>
              </a:rPr>
              <a:t>D'où vient l'idée du projet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i="1">
                <a:solidFill>
                  <a:srgbClr val="475569"/>
                </a:solidFill>
                <a:latin typeface="Calibri"/>
              </a:rPr>
              <a:t>Storytelling — une action locale visible, mais difficile à coordonner et à prouver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0B981"/>
                </a:solidFill>
                <a:latin typeface="Calibri"/>
              </a:rPr>
              <a:t>Constat terrain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sz="1300">
                <a:solidFill>
                  <a:srgbClr val="475569"/>
                </a:solidFill>
                <a:latin typeface="Calibri"/>
              </a:rPr>
              <a:t>Les déchets sont visibles dans l’espace public, mais les informations restent dispersées.</a:t>
            </a:r>
            <a:endParaRPr lang="en-US" sz="1300" dirty="0"/>
          </a:p>
          <a:p>
            <a:r>
              <a:rPr sz="1300">
                <a:solidFill>
                  <a:srgbClr val="475569"/>
                </a:solidFill>
                <a:latin typeface="Calibri"/>
              </a:rPr>
              <a:t/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Trois freins reviennent souvent :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savoir où agir en priorité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garder une mobilisation régulière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transformer une action ponctuelle en impact lisible et partageable.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/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CleanMyMap part de cette question : comment relier bénévoles, associations et acteurs locaux autour d’une donnée terrain simple ?</a:t>
            </a:r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D1FAE5"/>
          </a:solidFill>
          <a:ln>
            <a:solidFill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 i="1">
                <a:solidFill>
                  <a:srgbClr val="064E3B"/>
                </a:solidFill>
                <a:latin typeface="Calibri"/>
              </a:rPr>
              <a:t>Visuel à insérer</a:t>
            </a:r>
            <a:endParaRPr lang="en-US" sz="1400" dirty="0"/>
          </a:p>
          <a:p>
            <a:r>
              <a:rPr sz="1400" b="1" i="1">
                <a:solidFill>
                  <a:srgbClr val="064E3B"/>
                </a:solidFill>
                <a:latin typeface="Calibri"/>
              </a:rPr>
              <a:t>Carte / action terrain / chiffre clé</a:t>
            </a:r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3</a:t>
            </a:r>
            <a:endParaRPr lang="en-US" sz="900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solidFill/>
          </a:ln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solidFill/>
          </a:ln>
        </p:spPr>
      </p:pic>
      <p:sp>
        <p:nvSpPr>
          <p:cNvPr id="19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solidFill>
                  <a:srgbClr val="064E3B"/>
                </a:solidFill>
              </a:rPr>
              <a:t>Présentation de l'offre et du concept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i="1">
                <a:solidFill>
                  <a:srgbClr val="475569"/>
                </a:solidFill>
                <a:latin typeface="Calibri"/>
              </a:rPr>
              <a:t>Une plateforme citoyenne centrée sur la boucle action → donnée → impact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0B981"/>
                </a:solidFill>
                <a:latin typeface="Calibri"/>
              </a:rPr>
              <a:t>Votre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sz="1300">
                <a:solidFill>
                  <a:srgbClr val="475569"/>
                </a:solidFill>
                <a:latin typeface="Calibri"/>
              </a:rPr>
              <a:t>CleanMyMap permet de :</a:t>
            </a:r>
            <a:endParaRPr lang="en-US" sz="1300" dirty="0"/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déclarer ou rejoindre une action de dépollution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visualiser les actions et signalements sur une carte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transformer les données terrain en indicateurs, rapports et traces exploitables.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/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La valeur principale : rendre une action bénévole plus facile à comprendre, à coordonner et à valoriser.</a:t>
            </a:r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D1FAE5"/>
          </a:solidFill>
          <a:ln>
            <a:solidFill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 i="1">
                <a:solidFill>
                  <a:srgbClr val="064E3B"/>
                </a:solidFill>
                <a:latin typeface="Calibri"/>
              </a:rPr>
              <a:t>Illustration</a:t>
            </a:r>
            <a:endParaRPr lang="en-US" sz="1400" dirty="0"/>
          </a:p>
          <a:p>
            <a:r>
              <a:rPr sz="1400" b="1" i="1">
                <a:solidFill>
                  <a:srgbClr val="064E3B"/>
                </a:solidFill>
                <a:latin typeface="Calibri"/>
              </a:rPr>
              <a:t>Carte + formulaire + rapport</a:t>
            </a:r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4</a:t>
            </a:r>
            <a:endParaRPr lang="en-US" sz="900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solidFill/>
          </a:ln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solidFill/>
          </a:ln>
        </p:spPr>
      </p:pic>
      <p:sp>
        <p:nvSpPr>
          <p:cNvPr id="19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solidFill>
                  <a:srgbClr val="064E3B"/>
                </a:solidFill>
              </a:rPr>
              <a:t>Comment ça marche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i="1">
                <a:solidFill>
                  <a:srgbClr val="475569"/>
                </a:solidFill>
                <a:latin typeface="Calibri"/>
              </a:rPr>
              <a:t>Le fonctionnement pratique de la solution, du terrain au rapport d’impact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0B981"/>
                </a:solidFill>
                <a:latin typeface="Calibri"/>
              </a:rPr>
              <a:t>Démonstration &amp; avancement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sz="1300">
                <a:solidFill>
                  <a:srgbClr val="475569"/>
                </a:solidFill>
                <a:latin typeface="Calibri"/>
              </a:rPr>
              <a:t>Parcours bénévole :</a:t>
            </a:r>
            <a:endParaRPr lang="en-US" sz="1300" dirty="0"/>
          </a:p>
          <a:p>
            <a:r>
              <a:rPr sz="1300">
                <a:solidFill>
                  <a:srgbClr val="475569"/>
                </a:solidFill>
                <a:latin typeface="Calibri"/>
              </a:rPr>
              <a:t>1. Je consulte la carte ou une rubrique d’action.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2. Je signale un déchet, rejoins un formulaire ou déclare une action.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3. Les données sont modérées, normalisées et visibles sur la carte.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4. L’impact peut être consulté, exporté et présenté.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/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État actuel : prototype web avancé, documentation structurée, architecture Supabase / Next.js / Clerk déjà en place.</a:t>
            </a:r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D1FAE5"/>
          </a:solidFill>
          <a:ln>
            <a:solidFill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 i="1">
                <a:solidFill>
                  <a:srgbClr val="064E3B"/>
                </a:solidFill>
                <a:latin typeface="Calibri"/>
              </a:rPr>
              <a:t>Capture prototype</a:t>
            </a:r>
            <a:endParaRPr lang="en-US" sz="1400" dirty="0"/>
          </a:p>
          <a:p>
            <a:r>
              <a:rPr sz="1400" b="1" i="1">
                <a:solidFill>
                  <a:srgbClr val="064E3B"/>
                </a:solidFill>
                <a:latin typeface="Calibri"/>
              </a:rPr>
              <a:t>Carte / formulaire / rapport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D2E — Dossier de candidature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5</a:t>
            </a:r>
            <a:endParaRPr lang="en-US" sz="900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solidFill/>
          </a:ln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solidFill/>
          </a:ln>
        </p:spPr>
      </p:pic>
      <p:cxnSp>
        <p:nvCxnSpPr>
          <p:cNvPr id="19" name="Connecteur droit 18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solidFill>
                  <a:srgbClr val="064E3B"/>
                </a:solidFill>
                <a:latin typeface="Calibri"/>
              </a:rPr>
              <a:t>Concurrence et avantages concurrentiels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i="1">
                <a:solidFill>
                  <a:srgbClr val="475569"/>
                </a:solidFill>
                <a:latin typeface="Calibri"/>
              </a:rPr>
              <a:t>Un positionnement complémentaire : structurer la donnée et la preuve terrain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0B981"/>
                </a:solidFill>
                <a:latin typeface="Calibri"/>
              </a:rPr>
              <a:t>Comparaison rapide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sz="1300">
                <a:solidFill>
                  <a:srgbClr val="475569"/>
                </a:solidFill>
                <a:latin typeface="Calibri"/>
              </a:rPr>
              <a:t>Références ou alternatives :</a:t>
            </a:r>
            <a:endParaRPr lang="en-US" sz="1300" dirty="0"/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cartes de signalement existantes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formulaires Google Sheets associatifs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outils internes de collectivités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plateformes de mobilisation ponctuelle.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/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Différenciation CleanMyMap :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boucle complète signalement → action → impact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données cartographiques et rapports exploitables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approche bénévole, open source et compatible partenariats.</a:t>
            </a:r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D1FAE5"/>
          </a:solidFill>
          <a:ln>
            <a:solidFill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 i="1">
                <a:solidFill>
                  <a:srgbClr val="064E3B"/>
                </a:solidFill>
                <a:latin typeface="Calibri"/>
              </a:rPr>
              <a:t>Tableau à compléter</a:t>
            </a:r>
            <a:endParaRPr lang="en-US" sz="1400" dirty="0"/>
          </a:p>
          <a:p>
            <a:r>
              <a:rPr sz="1400" b="1" i="1">
                <a:solidFill>
                  <a:srgbClr val="064E3B"/>
                </a:solidFill>
                <a:latin typeface="Calibri"/>
              </a:rPr>
              <a:t>Signalement · carte · impact · export</a:t>
            </a:r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6</a:t>
            </a:r>
            <a:endParaRPr lang="en-US" sz="900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solidFill/>
          </a:ln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solidFill/>
          </a:ln>
        </p:spPr>
      </p:pic>
      <p:sp>
        <p:nvSpPr>
          <p:cNvPr id="19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800" b="1">
                <a:solidFill>
                  <a:srgbClr val="064E3B"/>
                </a:solidFill>
                <a:latin typeface="Calibri"/>
              </a:rPr>
              <a:t>Roadmap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i="1">
                <a:solidFill>
                  <a:srgbClr val="475569"/>
                </a:solidFill>
                <a:latin typeface="Calibri"/>
              </a:rPr>
              <a:t>Ce qui existe déjà, puis les chantiers prioritaires de l’année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64E3B"/>
          </a:solidFill>
          <a:ln>
            <a:solidFill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2651760"/>
            <a:ext cx="315468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r>
              <a:rPr sz="1700" b="1">
                <a:solidFill>
                  <a:srgbClr val="064E3B"/>
                </a:solidFill>
                <a:latin typeface="Calibri"/>
              </a:rPr>
              <a:t>Actions déjà réalisées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3154680" cy="2377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475569"/>
                </a:solidFill>
                <a:latin typeface="Calibri"/>
              </a:rPr>
              <a:t>• Prototype web fonctionnel</a:t>
            </a:r>
            <a:endParaRPr lang="en-US" sz="1300" dirty="0"/>
          </a:p>
          <a:p>
            <a:r>
              <a:rPr sz="1300" i="1">
                <a:solidFill>
                  <a:srgbClr val="475569"/>
                </a:solidFill>
                <a:latin typeface="Calibri"/>
              </a:rPr>
              <a:t>• Carte, formulaires, rapports, profils</a:t>
            </a:r>
          </a:p>
          <a:p>
            <a:r>
              <a:rPr sz="1300" i="1">
                <a:solidFill>
                  <a:srgbClr val="475569"/>
                </a:solidFill>
                <a:latin typeface="Calibri"/>
              </a:rPr>
              <a:t>• Documentation projet structurée</a:t>
            </a:r>
          </a:p>
          <a:p>
            <a:r>
              <a:rPr sz="1300" i="1">
                <a:solidFill>
                  <a:srgbClr val="475569"/>
                </a:solidFill>
                <a:latin typeface="Calibri"/>
              </a:rPr>
              <a:t>• Premiers contacts et pistes partenaires</a:t>
            </a:r>
          </a:p>
        </p:txBody>
      </p:sp>
      <p:sp>
        <p:nvSpPr>
          <p:cNvPr id="17" name="Shape 15"/>
          <p:cNvSpPr/>
          <p:nvPr/>
        </p:nvSpPr>
        <p:spPr>
          <a:xfrm>
            <a:off x="448056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09160" y="1920240"/>
            <a:ext cx="548640" cy="548640"/>
          </a:xfrm>
          <a:prstGeom prst="ellipse">
            <a:avLst/>
          </a:prstGeom>
          <a:solidFill>
            <a:srgbClr val="10B981"/>
          </a:solidFill>
          <a:ln>
            <a:solidFill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09160" y="1920240"/>
            <a:ext cx="54864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9160" y="2651760"/>
            <a:ext cx="315468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r>
              <a:rPr sz="1700" b="1">
                <a:solidFill>
                  <a:srgbClr val="064E3B"/>
                </a:solidFill>
                <a:latin typeface="Calibri"/>
              </a:rPr>
              <a:t>Chantiers prioritaires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09160" y="3291840"/>
            <a:ext cx="3154680" cy="2377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r>
              <a:rPr sz="1300" i="1">
                <a:solidFill>
                  <a:srgbClr val="475569"/>
                </a:solidFill>
                <a:latin typeface="Calibri"/>
              </a:rPr>
              <a:t>• Tests utilisateurs terrain</a:t>
            </a:r>
            <a:endParaRPr lang="en-US" sz="1300" dirty="0"/>
          </a:p>
          <a:p>
            <a:r>
              <a:rPr sz="1300" i="1">
                <a:solidFill>
                  <a:srgbClr val="475569"/>
                </a:solidFill>
                <a:latin typeface="Calibri"/>
              </a:rPr>
              <a:t>• Simplification des parcours clés</a:t>
            </a:r>
          </a:p>
          <a:p>
            <a:r>
              <a:rPr sz="1300" i="1">
                <a:solidFill>
                  <a:srgbClr val="475569"/>
                </a:solidFill>
                <a:latin typeface="Calibri"/>
              </a:rPr>
              <a:t>• Cadrage des données et de la modération</a:t>
            </a:r>
          </a:p>
          <a:p>
            <a:r>
              <a:rPr sz="1300" i="1">
                <a:solidFill>
                  <a:srgbClr val="475569"/>
                </a:solidFill>
                <a:latin typeface="Calibri"/>
              </a:rPr>
              <a:t>• Modèle de partenariat soutenable</a:t>
            </a:r>
          </a:p>
        </p:txBody>
      </p:sp>
      <p:sp>
        <p:nvSpPr>
          <p:cNvPr id="22" name="Shape 20"/>
          <p:cNvSpPr/>
          <p:nvPr/>
        </p:nvSpPr>
        <p:spPr>
          <a:xfrm>
            <a:off x="841248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41080" y="1920240"/>
            <a:ext cx="548640" cy="548640"/>
          </a:xfrm>
          <a:prstGeom prst="ellipse">
            <a:avLst/>
          </a:prstGeom>
          <a:solidFill>
            <a:srgbClr val="064E3B"/>
          </a:solidFill>
          <a:ln>
            <a:solidFill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41080" y="1920240"/>
            <a:ext cx="54864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41080" y="2651760"/>
            <a:ext cx="315468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064E3B"/>
                </a:solidFill>
                <a:latin typeface="Calibri"/>
              </a:rPr>
              <a:t>Perspectives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641080" y="3291840"/>
            <a:ext cx="3154680" cy="2377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r>
              <a:rPr sz="1300" i="1">
                <a:solidFill>
                  <a:srgbClr val="475569"/>
                </a:solidFill>
                <a:latin typeface="Calibri"/>
              </a:rPr>
              <a:t>• Déploiement pilote local</a:t>
            </a:r>
            <a:endParaRPr lang="en-US" sz="1300" dirty="0"/>
          </a:p>
          <a:p>
            <a:r>
              <a:rPr sz="1300" i="1">
                <a:solidFill>
                  <a:srgbClr val="475569"/>
                </a:solidFill>
                <a:latin typeface="Calibri"/>
              </a:rPr>
              <a:t>• Collaboration associative / académique</a:t>
            </a:r>
          </a:p>
          <a:p>
            <a:r>
              <a:rPr sz="1300" i="1">
                <a:solidFill>
                  <a:srgbClr val="475569"/>
                </a:solidFill>
                <a:latin typeface="Calibri"/>
              </a:rPr>
              <a:t>• Rapports d’impact réutilisables</a:t>
            </a:r>
          </a:p>
          <a:p>
            <a:r>
              <a:rPr sz="1300" i="1">
                <a:solidFill>
                  <a:srgbClr val="475569"/>
                </a:solidFill>
                <a:latin typeface="Calibri"/>
              </a:rPr>
              <a:t>• Base de données terrain plus fiable</a:t>
            </a:r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7</a:t>
            </a:r>
            <a:endParaRPr lang="en-US" sz="900" dirty="0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solidFill/>
          </a:ln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solidFill/>
          </a:ln>
        </p:spPr>
      </p:pic>
      <p:sp>
        <p:nvSpPr>
          <p:cNvPr id="31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32" name="Connecteur droit 31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064E3B"/>
                </a:solidFill>
                <a:latin typeface="Calibri"/>
              </a:rPr>
              <a:t>Apports de Pépite Sorbonne Université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r>
              <a:rPr sz="1400" i="1">
                <a:solidFill>
                  <a:srgbClr val="475569"/>
                </a:solidFill>
                <a:latin typeface="Calibri"/>
              </a:rPr>
              <a:t>Passer d’un prototype étudiant à un projet testable, cadré et crédible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ECFDF5"/>
          </a:solidFill>
          <a:ln>
            <a:solidFill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874520"/>
            <a:ext cx="10634472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500" b="1">
                <a:solidFill>
                  <a:srgbClr val="10B981"/>
                </a:solidFill>
                <a:latin typeface="Calibri"/>
              </a:rPr>
              <a:t>Besoins prioritaires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0634472" cy="3749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sz="1300">
                <a:solidFill>
                  <a:srgbClr val="475569"/>
                </a:solidFill>
                <a:latin typeface="Calibri"/>
              </a:rPr>
              <a:t>Pépite peut aider CleanMyMap à avancer sur quatre points :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structurer une vraie expérimentation terrain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clarifier le positionnement, les partenaires et les usages prioritaires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consolider le modèle économique ou associatif sans dénaturer le projet bénévole ;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• gagner en méthode, en réseau et en crédibilité auprès des acteurs publics et associatifs.</a:t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/>
            </a:r>
          </a:p>
          <a:p>
            <a:r>
              <a:rPr sz="1300">
                <a:solidFill>
                  <a:srgbClr val="475569"/>
                </a:solidFill>
                <a:latin typeface="Calibri"/>
              </a:rPr>
              <a:t>Conclusion : CleanMyMap est déjà prototypé. Le SNEE/D2E doit aider à transformer ce prototype en projet testé, utile et durable.</a:t>
            </a:r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>
                <a:solidFill>
                  <a:srgbClr val="475569"/>
                </a:solidFill>
                <a:latin typeface="Calibri"/>
              </a:rPr>
              <a:t>8</a:t>
            </a:r>
            <a:endParaRPr lang="en-US" sz="900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  <a:ln>
            <a:solidFill/>
          </a:ln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  <a:ln>
            <a:solidFill/>
          </a:ln>
        </p:spPr>
      </p:pic>
      <p:sp>
        <p:nvSpPr>
          <p:cNvPr id="15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53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1220</Words>
  <Application>Microsoft Office PowerPoint</Application>
  <PresentationFormat>Grand écran</PresentationFormat>
  <Paragraphs>177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RUFFELAERE Emilie</cp:lastModifiedBy>
  <cp:revision>12</cp:revision>
  <dcterms:created xsi:type="dcterms:W3CDTF">2026-06-12T08:39:16Z</dcterms:created>
  <dcterms:modified xsi:type="dcterms:W3CDTF">2026-06-12T10:59:01Z</dcterms:modified>
</cp:coreProperties>
</file>